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86" r:id="rId3"/>
    <p:sldId id="287" r:id="rId4"/>
    <p:sldId id="256" r:id="rId5"/>
    <p:sldId id="258" r:id="rId6"/>
    <p:sldId id="260" r:id="rId7"/>
    <p:sldId id="261" r:id="rId8"/>
    <p:sldId id="264" r:id="rId9"/>
    <p:sldId id="266" r:id="rId10"/>
    <p:sldId id="269" r:id="rId11"/>
    <p:sldId id="271" r:id="rId12"/>
    <p:sldId id="273" r:id="rId13"/>
    <p:sldId id="274" r:id="rId14"/>
    <p:sldId id="276" r:id="rId15"/>
    <p:sldId id="277" r:id="rId16"/>
    <p:sldId id="279" r:id="rId17"/>
    <p:sldId id="280" r:id="rId18"/>
    <p:sldId id="281" r:id="rId19"/>
    <p:sldId id="282" r:id="rId20"/>
    <p:sldId id="283" r:id="rId21"/>
    <p:sldId id="28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3:14:52.168"/>
    </inkml:context>
    <inkml:brush xml:id="br0">
      <inkml:brushProperty name="width" value="0.35" units="cm"/>
      <inkml:brushProperty name="height" value="0.35" units="cm"/>
      <inkml:brushProperty name="color" value="#FFFFFF"/>
    </inkml:brush>
  </inkml:definitions>
  <inkml:trace contextRef="#ctx0" brushRef="#br0">0 0 24534,'2416'0'0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3:45:03.367"/>
    </inkml:context>
    <inkml:brush xml:id="br0">
      <inkml:brushProperty name="width" value="0.35" units="cm"/>
      <inkml:brushProperty name="height" value="0.35" units="cm"/>
      <inkml:brushProperty name="color" value="#FFFFFF"/>
    </inkml:brush>
  </inkml:definitions>
  <inkml:trace contextRef="#ctx0" brushRef="#br0">0 0 24534,'2416'0'0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077D4-DEC2-0366-9D3C-2880870867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1A4C7F-6BD9-29AD-E35D-E04DCEF047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63BFDF-0DC8-EAC2-1A93-3474F21FB71C}"/>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5" name="Footer Placeholder 4">
            <a:extLst>
              <a:ext uri="{FF2B5EF4-FFF2-40B4-BE49-F238E27FC236}">
                <a16:creationId xmlns:a16="http://schemas.microsoft.com/office/drawing/2014/main" id="{47AE408C-8244-AE93-66D8-B8EB7D8178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3F64DD-8322-60BF-2F63-BF1B94E65AE8}"/>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376273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F581-A694-BF39-B6CD-6173269304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374F7E-628C-D4AC-912F-AFFD7C02AE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9A2060-616A-ECE7-53DC-BE64E5305339}"/>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5" name="Footer Placeholder 4">
            <a:extLst>
              <a:ext uri="{FF2B5EF4-FFF2-40B4-BE49-F238E27FC236}">
                <a16:creationId xmlns:a16="http://schemas.microsoft.com/office/drawing/2014/main" id="{587D8B23-16BA-97D2-25B2-668E361A8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DAC0ED-E169-1A2C-AC7C-E01F91D29171}"/>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1202902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B8E8C-0CCC-6068-7A99-62AC353FA3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F54002-C099-FC01-ED4C-08E1C628BC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CF4459-48EF-F27A-E4F6-9696EB4FE115}"/>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5" name="Footer Placeholder 4">
            <a:extLst>
              <a:ext uri="{FF2B5EF4-FFF2-40B4-BE49-F238E27FC236}">
                <a16:creationId xmlns:a16="http://schemas.microsoft.com/office/drawing/2014/main" id="{8810CFAF-F607-6D7C-D0DC-CEBE9B57C5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47A061-FC57-6671-7B2E-42358457032C}"/>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3476399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1A5A3-9B5D-2E77-C3B8-28587E3835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1BB179-0445-B115-73EC-52FD9371A2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255AC0-B385-B006-2EF1-C15AE9E815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004AEA-96E8-AEB4-8050-B1316B7B6B1D}"/>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6" name="Footer Placeholder 5">
            <a:extLst>
              <a:ext uri="{FF2B5EF4-FFF2-40B4-BE49-F238E27FC236}">
                <a16:creationId xmlns:a16="http://schemas.microsoft.com/office/drawing/2014/main" id="{854FFE2B-9CA1-C49B-1CBE-30F1F8C0B9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8CACFD-7CFD-95A6-89C2-5C4050E159A7}"/>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2978365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5A3F8-3F52-1F1F-42D4-2CDA85D267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338423-9B41-98A5-79B6-DE1C8312A7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40A932-1A69-5D90-511A-13641C4080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FB8380-0CDC-FE1F-20DB-E9ECA99F4F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04D892-CFC7-052A-5AFD-D3464BD022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B8424-5CBA-1C05-2AA3-2A77A8477688}"/>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8" name="Footer Placeholder 7">
            <a:extLst>
              <a:ext uri="{FF2B5EF4-FFF2-40B4-BE49-F238E27FC236}">
                <a16:creationId xmlns:a16="http://schemas.microsoft.com/office/drawing/2014/main" id="{7D938E65-DBBE-139F-1D0D-CCD54F994A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62EF94-55BE-42B1-7922-8E104CAB3503}"/>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109790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13C7C-6D5E-1073-58B5-4044B420E9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B54753-8FF0-2E85-0E4C-528CC22A9827}"/>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4" name="Footer Placeholder 3">
            <a:extLst>
              <a:ext uri="{FF2B5EF4-FFF2-40B4-BE49-F238E27FC236}">
                <a16:creationId xmlns:a16="http://schemas.microsoft.com/office/drawing/2014/main" id="{CE7A8312-2C4E-5907-55EB-F60B03C460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1351391-0943-BF58-FC72-A4C864D948AE}"/>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1462489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62A628-4731-1936-FD1B-1229402AF83B}"/>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3" name="Footer Placeholder 2">
            <a:extLst>
              <a:ext uri="{FF2B5EF4-FFF2-40B4-BE49-F238E27FC236}">
                <a16:creationId xmlns:a16="http://schemas.microsoft.com/office/drawing/2014/main" id="{A6CB1936-24EF-2736-888E-F5D6AD5BA43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2D18A9B-F45F-97C9-7DF3-3760EF1BA6E2}"/>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418596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3FC57-8F1C-A849-C99F-BFC4DF4B1B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038421-E9E3-C71F-479F-EF72127BD0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4239E2-4E42-C2AE-663F-D99270F64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69354-4245-94F1-B55A-5F3D17AA7F56}"/>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6" name="Footer Placeholder 5">
            <a:extLst>
              <a:ext uri="{FF2B5EF4-FFF2-40B4-BE49-F238E27FC236}">
                <a16:creationId xmlns:a16="http://schemas.microsoft.com/office/drawing/2014/main" id="{91E87BF9-B0E0-AA5E-B8E7-72C4C2ADA4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40C8D9-B20A-3E5E-99FA-940003C13714}"/>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4002029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0B30F-A633-A446-8DAF-F082D8C3C3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5F6311-A547-C5E9-1FBD-12F25ACC62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ADD99D-27A8-4544-DB26-42D92C3C3F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D9E470-E9A6-3AA1-707C-A99FEF45912C}"/>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6" name="Footer Placeholder 5">
            <a:extLst>
              <a:ext uri="{FF2B5EF4-FFF2-40B4-BE49-F238E27FC236}">
                <a16:creationId xmlns:a16="http://schemas.microsoft.com/office/drawing/2014/main" id="{51556AB2-B910-AA65-E5C8-21FBAE1467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A103A7-FDD9-959E-AE07-55AA9CDD08D3}"/>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2654155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29815-1298-A234-7E43-20964E166E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817DEA-73DD-628A-E54D-B7DF691CA7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1FDC79-FEEB-6A06-81B5-C188663695EB}"/>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5" name="Footer Placeholder 4">
            <a:extLst>
              <a:ext uri="{FF2B5EF4-FFF2-40B4-BE49-F238E27FC236}">
                <a16:creationId xmlns:a16="http://schemas.microsoft.com/office/drawing/2014/main" id="{D2C3CCD0-2BB1-0938-E3AE-0789154836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BAE98B-8546-EF2A-EAB0-F3C23C4CAFFE}"/>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2931221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325DD-15E8-74F9-5155-5C7FF389AC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A34088-EE2E-5FE3-1724-AAAB7FE868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367E02-666A-4E42-C226-468BA720FD21}"/>
              </a:ext>
            </a:extLst>
          </p:cNvPr>
          <p:cNvSpPr>
            <a:spLocks noGrp="1"/>
          </p:cNvSpPr>
          <p:nvPr>
            <p:ph type="dt" sz="half" idx="10"/>
          </p:nvPr>
        </p:nvSpPr>
        <p:spPr/>
        <p:txBody>
          <a:bodyPr/>
          <a:lstStyle/>
          <a:p>
            <a:fld id="{BBCF5966-46F4-45AE-95FD-1FA1B780FD84}" type="datetimeFigureOut">
              <a:rPr lang="en-IN" smtClean="0"/>
              <a:t>03-02-2026</a:t>
            </a:fld>
            <a:endParaRPr lang="en-IN"/>
          </a:p>
        </p:txBody>
      </p:sp>
      <p:sp>
        <p:nvSpPr>
          <p:cNvPr id="5" name="Footer Placeholder 4">
            <a:extLst>
              <a:ext uri="{FF2B5EF4-FFF2-40B4-BE49-F238E27FC236}">
                <a16:creationId xmlns:a16="http://schemas.microsoft.com/office/drawing/2014/main" id="{DBC39D71-BB4D-8D02-8EFD-F041D3C190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9E36D-1925-0399-54D7-F103B5C1268C}"/>
              </a:ext>
            </a:extLst>
          </p:cNvPr>
          <p:cNvSpPr>
            <a:spLocks noGrp="1"/>
          </p:cNvSpPr>
          <p:nvPr>
            <p:ph type="sldNum" sz="quarter" idx="12"/>
          </p:nvPr>
        </p:nvSpPr>
        <p:spPr/>
        <p:txBody>
          <a:bodyPr/>
          <a:lstStyle/>
          <a:p>
            <a:fld id="{3E7EC97F-80D7-4A63-93C5-50402333E2DF}" type="slidenum">
              <a:rPr lang="en-IN" smtClean="0"/>
              <a:t>‹#›</a:t>
            </a:fld>
            <a:endParaRPr lang="en-IN"/>
          </a:p>
        </p:txBody>
      </p:sp>
    </p:spTree>
    <p:extLst>
      <p:ext uri="{BB962C8B-B14F-4D97-AF65-F5344CB8AC3E}">
        <p14:creationId xmlns:p14="http://schemas.microsoft.com/office/powerpoint/2010/main" val="3808143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78CFDA-26FA-8C74-1A48-90932D0F84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DE5BFA-471D-F6D3-8D45-53C2A9E2AC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8B7BF-70C2-FDFB-87C9-BA6AEED127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CF5966-46F4-45AE-95FD-1FA1B780FD84}" type="datetimeFigureOut">
              <a:rPr lang="en-IN" smtClean="0"/>
              <a:t>03-02-2026</a:t>
            </a:fld>
            <a:endParaRPr lang="en-IN"/>
          </a:p>
        </p:txBody>
      </p:sp>
      <p:sp>
        <p:nvSpPr>
          <p:cNvPr id="5" name="Footer Placeholder 4">
            <a:extLst>
              <a:ext uri="{FF2B5EF4-FFF2-40B4-BE49-F238E27FC236}">
                <a16:creationId xmlns:a16="http://schemas.microsoft.com/office/drawing/2014/main" id="{6EFE95BE-169D-CA11-6842-B458034CDD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94F2F12-145D-EAC9-E8BF-2EBCE47DA3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EC97F-80D7-4A63-93C5-50402333E2DF}" type="slidenum">
              <a:rPr lang="en-IN" smtClean="0"/>
              <a:t>‹#›</a:t>
            </a:fld>
            <a:endParaRPr lang="en-IN"/>
          </a:p>
        </p:txBody>
      </p:sp>
    </p:spTree>
    <p:extLst>
      <p:ext uri="{BB962C8B-B14F-4D97-AF65-F5344CB8AC3E}">
        <p14:creationId xmlns:p14="http://schemas.microsoft.com/office/powerpoint/2010/main" val="759149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2.jpg"/><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jp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jpeg"/><Relationship Id="rId7"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3.jpg"/><Relationship Id="rId4" Type="http://schemas.openxmlformats.org/officeDocument/2006/relationships/image" Target="../media/image7.jpe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33FCE543-451E-BE7D-B1B1-8DE92710861E}"/>
              </a:ext>
            </a:extLst>
          </p:cNvPr>
          <p:cNvGrpSpPr/>
          <p:nvPr/>
        </p:nvGrpSpPr>
        <p:grpSpPr>
          <a:xfrm>
            <a:off x="0" y="215008"/>
            <a:ext cx="12194467" cy="6642992"/>
            <a:chOff x="0" y="215008"/>
            <a:chExt cx="12194467" cy="6642992"/>
          </a:xfrm>
        </p:grpSpPr>
        <p:pic>
          <p:nvPicPr>
            <p:cNvPr id="6" name="Picture 5">
              <a:extLst>
                <a:ext uri="{FF2B5EF4-FFF2-40B4-BE49-F238E27FC236}">
                  <a16:creationId xmlns:a16="http://schemas.microsoft.com/office/drawing/2014/main" id="{B26D8C88-274E-6BBB-CD60-1C8D01168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19" y="215008"/>
              <a:ext cx="990714" cy="969491"/>
            </a:xfrm>
            <a:prstGeom prst="rect">
              <a:avLst/>
            </a:prstGeom>
          </p:spPr>
        </p:pic>
        <p:sp>
          <p:nvSpPr>
            <p:cNvPr id="3" name="TextBox 2">
              <a:extLst>
                <a:ext uri="{FF2B5EF4-FFF2-40B4-BE49-F238E27FC236}">
                  <a16:creationId xmlns:a16="http://schemas.microsoft.com/office/drawing/2014/main" id="{637AF570-0FFC-37FF-366A-9FF5EBC612DC}"/>
                </a:ext>
              </a:extLst>
            </p:cNvPr>
            <p:cNvSpPr txBox="1"/>
            <p:nvPr/>
          </p:nvSpPr>
          <p:spPr>
            <a:xfrm>
              <a:off x="3434621" y="699754"/>
              <a:ext cx="5322757" cy="584775"/>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IN" sz="3200" b="1" i="0" dirty="0">
                  <a:solidFill>
                    <a:schemeClr val="bg1"/>
                  </a:solidFill>
                  <a:effectLst/>
                  <a:latin typeface="Segoe UI" panose="020B0502040204020203" pitchFamily="34" charset="0"/>
                </a:rPr>
                <a:t>Electric </a:t>
              </a:r>
              <a:r>
                <a:rPr lang="en-IN" sz="3200" b="1" spc="50" dirty="0">
                  <a:ln w="0"/>
                  <a:solidFill>
                    <a:schemeClr val="bg1"/>
                  </a:solidFill>
                  <a:effectLst>
                    <a:innerShdw blurRad="63500" dist="50800" dir="13500000">
                      <a:srgbClr val="000000">
                        <a:alpha val="50000"/>
                      </a:srgbClr>
                    </a:innerShdw>
                  </a:effectLst>
                  <a:latin typeface="Segoe UI" panose="020B0502040204020203" pitchFamily="34" charset="0"/>
                </a:rPr>
                <a:t>V</a:t>
              </a:r>
              <a:r>
                <a:rPr lang="en-IN" sz="3200" b="1" i="0" spc="50" dirty="0">
                  <a:ln w="0"/>
                  <a:solidFill>
                    <a:schemeClr val="bg1"/>
                  </a:solidFill>
                  <a:effectLst>
                    <a:innerShdw blurRad="63500" dist="50800" dir="13500000">
                      <a:srgbClr val="000000">
                        <a:alpha val="50000"/>
                      </a:srgbClr>
                    </a:innerShdw>
                  </a:effectLst>
                  <a:latin typeface="Segoe UI" panose="020B0502040204020203" pitchFamily="34" charset="0"/>
                </a:rPr>
                <a:t>ehicles</a:t>
              </a:r>
              <a:r>
                <a:rPr lang="en-IN" sz="3200" b="1" i="0" dirty="0">
                  <a:solidFill>
                    <a:schemeClr val="bg1"/>
                  </a:solidFill>
                  <a:effectLst/>
                  <a:latin typeface="Segoe UI" panose="020B0502040204020203" pitchFamily="34" charset="0"/>
                </a:rPr>
                <a:t> Analysis</a:t>
              </a:r>
              <a:endParaRPr lang="en-IN" sz="3200" dirty="0">
                <a:solidFill>
                  <a:schemeClr val="bg1"/>
                </a:solidFill>
              </a:endParaRPr>
            </a:p>
          </p:txBody>
        </p:sp>
        <p:pic>
          <p:nvPicPr>
            <p:cNvPr id="7" name="Picture 6">
              <a:extLst>
                <a:ext uri="{FF2B5EF4-FFF2-40B4-BE49-F238E27FC236}">
                  <a16:creationId xmlns:a16="http://schemas.microsoft.com/office/drawing/2014/main" id="{5C638A09-41D6-B699-02A4-995F471ABC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2062" y="1284529"/>
              <a:ext cx="7767874" cy="5178581"/>
            </a:xfrm>
            <a:prstGeom prst="rect">
              <a:avLst/>
            </a:prstGeom>
          </p:spPr>
        </p:pic>
        <p:grpSp>
          <p:nvGrpSpPr>
            <p:cNvPr id="12" name="Group 11">
              <a:extLst>
                <a:ext uri="{FF2B5EF4-FFF2-40B4-BE49-F238E27FC236}">
                  <a16:creationId xmlns:a16="http://schemas.microsoft.com/office/drawing/2014/main" id="{74402B85-34A5-0D01-5AF5-6B4526EF1A88}"/>
                </a:ext>
              </a:extLst>
            </p:cNvPr>
            <p:cNvGrpSpPr/>
            <p:nvPr/>
          </p:nvGrpSpPr>
          <p:grpSpPr>
            <a:xfrm>
              <a:off x="0" y="1284529"/>
              <a:ext cx="2998033" cy="2785141"/>
              <a:chOff x="30006" y="1198409"/>
              <a:chExt cx="2998033" cy="2785141"/>
            </a:xfrm>
          </p:grpSpPr>
          <p:pic>
            <p:nvPicPr>
              <p:cNvPr id="5" name="Picture 4">
                <a:extLst>
                  <a:ext uri="{FF2B5EF4-FFF2-40B4-BE49-F238E27FC236}">
                    <a16:creationId xmlns:a16="http://schemas.microsoft.com/office/drawing/2014/main" id="{50F1B076-4E0F-069F-8CA3-8AC81FEE35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06" y="1198409"/>
                <a:ext cx="2998033" cy="2785141"/>
              </a:xfrm>
              <a:prstGeom prst="rect">
                <a:avLst/>
              </a:prstGeom>
            </p:spPr>
          </p:pic>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73DA7968-E3A9-E8A8-AFE9-43715A3007E4}"/>
                      </a:ext>
                    </a:extLst>
                  </p14:cNvPr>
                  <p14:cNvContentPartPr/>
                  <p14:nvPr/>
                </p14:nvContentPartPr>
                <p14:xfrm>
                  <a:off x="1093962" y="3854361"/>
                  <a:ext cx="870120" cy="720"/>
                </p14:xfrm>
              </p:contentPart>
            </mc:Choice>
            <mc:Fallback>
              <p:pic>
                <p:nvPicPr>
                  <p:cNvPr id="11" name="Ink 10">
                    <a:extLst>
                      <a:ext uri="{FF2B5EF4-FFF2-40B4-BE49-F238E27FC236}">
                        <a16:creationId xmlns:a16="http://schemas.microsoft.com/office/drawing/2014/main" id="{73DA7968-E3A9-E8A8-AFE9-43715A3007E4}"/>
                      </a:ext>
                    </a:extLst>
                  </p:cNvPr>
                  <p:cNvPicPr/>
                  <p:nvPr/>
                </p:nvPicPr>
                <p:blipFill>
                  <a:blip r:embed="rId6"/>
                  <a:stretch>
                    <a:fillRect/>
                  </a:stretch>
                </p:blipFill>
                <p:spPr>
                  <a:xfrm>
                    <a:off x="1030962" y="3728361"/>
                    <a:ext cx="995760" cy="252000"/>
                  </a:xfrm>
                  <a:prstGeom prst="rect">
                    <a:avLst/>
                  </a:prstGeom>
                </p:spPr>
              </p:pic>
            </mc:Fallback>
          </mc:AlternateContent>
        </p:grpSp>
        <p:pic>
          <p:nvPicPr>
            <p:cNvPr id="14" name="Picture 13">
              <a:extLst>
                <a:ext uri="{FF2B5EF4-FFF2-40B4-BE49-F238E27FC236}">
                  <a16:creationId xmlns:a16="http://schemas.microsoft.com/office/drawing/2014/main" id="{1FB072D3-7928-3574-DCA6-D7F8E6F6D5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917" y="3601898"/>
              <a:ext cx="3256102" cy="3256102"/>
            </a:xfrm>
            <a:prstGeom prst="rect">
              <a:avLst/>
            </a:prstGeom>
          </p:spPr>
        </p:pic>
        <p:sp>
          <p:nvSpPr>
            <p:cNvPr id="4" name="TextBox 3">
              <a:extLst>
                <a:ext uri="{FF2B5EF4-FFF2-40B4-BE49-F238E27FC236}">
                  <a16:creationId xmlns:a16="http://schemas.microsoft.com/office/drawing/2014/main" id="{E54CDA3F-58DE-20BD-3979-4C5D2B54C882}"/>
                </a:ext>
              </a:extLst>
            </p:cNvPr>
            <p:cNvSpPr txBox="1"/>
            <p:nvPr/>
          </p:nvSpPr>
          <p:spPr>
            <a:xfrm>
              <a:off x="9312014" y="5999256"/>
              <a:ext cx="2740078" cy="70788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sz="2000" b="1" dirty="0"/>
                <a:t>Presentation by: </a:t>
              </a:r>
            </a:p>
            <a:p>
              <a:r>
                <a:rPr lang="en-US" sz="2000" b="1" dirty="0"/>
                <a:t>Akshaykumar Shalavadi</a:t>
              </a:r>
              <a:endParaRPr lang="en-IN" sz="2000" b="1" dirty="0"/>
            </a:p>
          </p:txBody>
        </p:sp>
        <p:pic>
          <p:nvPicPr>
            <p:cNvPr id="16" name="Picture 15">
              <a:extLst>
                <a:ext uri="{FF2B5EF4-FFF2-40B4-BE49-F238E27FC236}">
                  <a16:creationId xmlns:a16="http://schemas.microsoft.com/office/drawing/2014/main" id="{80AF41DE-52EA-7C46-7DE6-2C34824EC5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09191" y="394890"/>
              <a:ext cx="2414666" cy="2414666"/>
            </a:xfrm>
            <a:prstGeom prst="rect">
              <a:avLst/>
            </a:prstGeom>
          </p:spPr>
        </p:pic>
        <p:pic>
          <p:nvPicPr>
            <p:cNvPr id="18" name="Picture 17">
              <a:extLst>
                <a:ext uri="{FF2B5EF4-FFF2-40B4-BE49-F238E27FC236}">
                  <a16:creationId xmlns:a16="http://schemas.microsoft.com/office/drawing/2014/main" id="{A1B16B67-C101-3C7C-4FB9-8BA13064902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409327" y="2970084"/>
              <a:ext cx="2785140" cy="2785140"/>
            </a:xfrm>
            <a:prstGeom prst="rect">
              <a:avLst/>
            </a:prstGeom>
          </p:spPr>
        </p:pic>
      </p:grpSp>
    </p:spTree>
    <p:extLst>
      <p:ext uri="{BB962C8B-B14F-4D97-AF65-F5344CB8AC3E}">
        <p14:creationId xmlns:p14="http://schemas.microsoft.com/office/powerpoint/2010/main" val="1301215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0E1CEE-3C2F-2729-82B3-3D03D1749035}"/>
              </a:ext>
            </a:extLst>
          </p:cNvPr>
          <p:cNvSpPr txBox="1"/>
          <p:nvPr/>
        </p:nvSpPr>
        <p:spPr>
          <a:xfrm>
            <a:off x="574623" y="4142232"/>
            <a:ext cx="11617377" cy="2308324"/>
          </a:xfrm>
          <a:prstGeom prst="rect">
            <a:avLst/>
          </a:prstGeom>
          <a:noFill/>
        </p:spPr>
        <p:txBody>
          <a:bodyPr wrap="square">
            <a:spAutoFit/>
          </a:bodyPr>
          <a:lstStyle/>
          <a:p>
            <a:pPr>
              <a:buFont typeface="Arial" panose="020B0604020202020204" pitchFamily="34" charset="0"/>
              <a:buChar char="•"/>
            </a:pPr>
            <a:r>
              <a:rPr lang="en-US" dirty="0" err="1"/>
              <a:t>AtliQ</a:t>
            </a:r>
            <a:r>
              <a:rPr lang="en-US" dirty="0"/>
              <a:t> Motors is planning to expand its electric vehicle (EV) business into India.</a:t>
            </a:r>
          </a:p>
          <a:p>
            <a:pPr>
              <a:buFont typeface="Arial" panose="020B0604020202020204" pitchFamily="34" charset="0"/>
              <a:buChar char="•"/>
            </a:pPr>
            <a:r>
              <a:rPr lang="en-US" dirty="0"/>
              <a:t>Despite rapid EV adoption in India, the market is highly diverse across states, vehicle categories, and policy environments.</a:t>
            </a:r>
          </a:p>
          <a:p>
            <a:pPr>
              <a:buFont typeface="Arial" panose="020B0604020202020204" pitchFamily="34" charset="0"/>
              <a:buChar char="•"/>
            </a:pPr>
            <a:r>
              <a:rPr lang="en-US" dirty="0" err="1"/>
              <a:t>AtliQ</a:t>
            </a:r>
            <a:r>
              <a:rPr lang="en-US" dirty="0"/>
              <a:t> Motors currently lacks clarity on:</a:t>
            </a:r>
          </a:p>
          <a:p>
            <a:pPr marL="742950" lvl="1" indent="-285750">
              <a:buFont typeface="Arial" panose="020B0604020202020204" pitchFamily="34" charset="0"/>
              <a:buChar char="•"/>
            </a:pPr>
            <a:r>
              <a:rPr lang="en-US" dirty="0"/>
              <a:t>High-growth states and EV penetration patterns</a:t>
            </a:r>
          </a:p>
          <a:p>
            <a:pPr marL="742950" lvl="1" indent="-285750">
              <a:buFont typeface="Arial" panose="020B0604020202020204" pitchFamily="34" charset="0"/>
              <a:buChar char="•"/>
            </a:pPr>
            <a:r>
              <a:rPr lang="en-US" dirty="0"/>
              <a:t>Demand drivers for 2-wheelers vs 4-wheelers</a:t>
            </a:r>
          </a:p>
          <a:p>
            <a:pPr marL="742950" lvl="1" indent="-285750">
              <a:buFont typeface="Arial" panose="020B0604020202020204" pitchFamily="34" charset="0"/>
              <a:buChar char="•"/>
            </a:pPr>
            <a:r>
              <a:rPr lang="en-US" dirty="0"/>
              <a:t>Revenue potential and future market size</a:t>
            </a:r>
          </a:p>
          <a:p>
            <a:pPr marL="742950" lvl="1" indent="-285750">
              <a:buFont typeface="Arial" panose="020B0604020202020204" pitchFamily="34" charset="0"/>
              <a:buChar char="•"/>
            </a:pPr>
            <a:r>
              <a:rPr lang="en-US" dirty="0"/>
              <a:t>Impact of subsidies, charging infrastructure, and seasonality</a:t>
            </a:r>
          </a:p>
          <a:p>
            <a:pPr>
              <a:buFont typeface="Arial" panose="020B0604020202020204" pitchFamily="34" charset="0"/>
              <a:buChar char="•"/>
            </a:pPr>
            <a:r>
              <a:rPr lang="en-US" dirty="0"/>
              <a:t>A data-driven market study is required to </a:t>
            </a:r>
            <a:r>
              <a:rPr lang="en-US" b="1" dirty="0"/>
              <a:t>identify opportunities, minimize risk, and guide strategic entry decisions</a:t>
            </a:r>
            <a:r>
              <a:rPr lang="en-US" dirty="0"/>
              <a:t>.</a:t>
            </a:r>
          </a:p>
        </p:txBody>
      </p:sp>
      <p:sp>
        <p:nvSpPr>
          <p:cNvPr id="5" name="TextBox 4">
            <a:extLst>
              <a:ext uri="{FF2B5EF4-FFF2-40B4-BE49-F238E27FC236}">
                <a16:creationId xmlns:a16="http://schemas.microsoft.com/office/drawing/2014/main" id="{3DB6A96C-9433-AB78-60BF-932EAABBFDAA}"/>
              </a:ext>
            </a:extLst>
          </p:cNvPr>
          <p:cNvSpPr txBox="1"/>
          <p:nvPr/>
        </p:nvSpPr>
        <p:spPr>
          <a:xfrm>
            <a:off x="4603854" y="407444"/>
            <a:ext cx="2664502" cy="40011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buNone/>
            </a:pPr>
            <a:r>
              <a:rPr lang="en-US" sz="2000" b="1" dirty="0"/>
              <a:t>Problem Statement</a:t>
            </a:r>
          </a:p>
        </p:txBody>
      </p:sp>
      <p:grpSp>
        <p:nvGrpSpPr>
          <p:cNvPr id="24" name="Group 23">
            <a:extLst>
              <a:ext uri="{FF2B5EF4-FFF2-40B4-BE49-F238E27FC236}">
                <a16:creationId xmlns:a16="http://schemas.microsoft.com/office/drawing/2014/main" id="{1F6095B7-6551-C351-660E-E388816F2D3D}"/>
              </a:ext>
            </a:extLst>
          </p:cNvPr>
          <p:cNvGrpSpPr/>
          <p:nvPr/>
        </p:nvGrpSpPr>
        <p:grpSpPr>
          <a:xfrm>
            <a:off x="379752" y="982747"/>
            <a:ext cx="11432496" cy="3978997"/>
            <a:chOff x="379752" y="982747"/>
            <a:chExt cx="11432496" cy="3978997"/>
          </a:xfrm>
        </p:grpSpPr>
        <p:pic>
          <p:nvPicPr>
            <p:cNvPr id="9" name="Picture 8">
              <a:extLst>
                <a:ext uri="{FF2B5EF4-FFF2-40B4-BE49-F238E27FC236}">
                  <a16:creationId xmlns:a16="http://schemas.microsoft.com/office/drawing/2014/main" id="{06E850C0-62A3-C948-DF67-1EBA4E981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752" y="1574784"/>
              <a:ext cx="2713693" cy="1800219"/>
            </a:xfrm>
            <a:prstGeom prst="rect">
              <a:avLst/>
            </a:prstGeom>
          </p:spPr>
        </p:pic>
        <p:pic>
          <p:nvPicPr>
            <p:cNvPr id="11" name="Picture 10">
              <a:extLst>
                <a:ext uri="{FF2B5EF4-FFF2-40B4-BE49-F238E27FC236}">
                  <a16:creationId xmlns:a16="http://schemas.microsoft.com/office/drawing/2014/main" id="{3CF4A4D6-A04D-ECFF-85F2-F06E96C0A6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8555" y="1142642"/>
              <a:ext cx="2713693" cy="2664502"/>
            </a:xfrm>
            <a:prstGeom prst="rect">
              <a:avLst/>
            </a:prstGeom>
          </p:spPr>
        </p:pic>
        <p:pic>
          <p:nvPicPr>
            <p:cNvPr id="15" name="Picture 14">
              <a:extLst>
                <a:ext uri="{FF2B5EF4-FFF2-40B4-BE49-F238E27FC236}">
                  <a16:creationId xmlns:a16="http://schemas.microsoft.com/office/drawing/2014/main" id="{3C22B7F0-4F17-591C-01EA-2D3ED8E848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0032" y="982747"/>
              <a:ext cx="1492146" cy="1492146"/>
            </a:xfrm>
            <a:prstGeom prst="rect">
              <a:avLst/>
            </a:prstGeom>
          </p:spPr>
        </p:pic>
        <p:grpSp>
          <p:nvGrpSpPr>
            <p:cNvPr id="16" name="Group 15">
              <a:extLst>
                <a:ext uri="{FF2B5EF4-FFF2-40B4-BE49-F238E27FC236}">
                  <a16:creationId xmlns:a16="http://schemas.microsoft.com/office/drawing/2014/main" id="{79754DA0-0253-6E16-9803-411E9F53C65F}"/>
                </a:ext>
              </a:extLst>
            </p:cNvPr>
            <p:cNvGrpSpPr/>
            <p:nvPr/>
          </p:nvGrpSpPr>
          <p:grpSpPr>
            <a:xfrm>
              <a:off x="5285446" y="2430282"/>
              <a:ext cx="1934076" cy="2531462"/>
              <a:chOff x="30006" y="1198409"/>
              <a:chExt cx="1934076" cy="2656672"/>
            </a:xfrm>
          </p:grpSpPr>
          <p:pic>
            <p:nvPicPr>
              <p:cNvPr id="17" name="Picture 16">
                <a:extLst>
                  <a:ext uri="{FF2B5EF4-FFF2-40B4-BE49-F238E27FC236}">
                    <a16:creationId xmlns:a16="http://schemas.microsoft.com/office/drawing/2014/main" id="{91383D38-E720-D83C-2748-6FB24BB86A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06" y="1198409"/>
                <a:ext cx="1693889" cy="1573605"/>
              </a:xfrm>
              <a:prstGeom prst="rect">
                <a:avLst/>
              </a:prstGeom>
            </p:spPr>
          </p:pic>
          <mc:AlternateContent xmlns:mc="http://schemas.openxmlformats.org/markup-compatibility/2006">
            <mc:Choice xmlns:p14="http://schemas.microsoft.com/office/powerpoint/2010/main" Requires="p14">
              <p:contentPart p14:bwMode="auto" r:id="rId6">
                <p14:nvContentPartPr>
                  <p14:cNvPr id="18" name="Ink 17">
                    <a:extLst>
                      <a:ext uri="{FF2B5EF4-FFF2-40B4-BE49-F238E27FC236}">
                        <a16:creationId xmlns:a16="http://schemas.microsoft.com/office/drawing/2014/main" id="{17203497-386F-31CD-6E7E-8BEB90E8200E}"/>
                      </a:ext>
                    </a:extLst>
                  </p14:cNvPr>
                  <p14:cNvContentPartPr/>
                  <p14:nvPr/>
                </p14:nvContentPartPr>
                <p14:xfrm>
                  <a:off x="1093962" y="3854361"/>
                  <a:ext cx="870120" cy="720"/>
                </p14:xfrm>
              </p:contentPart>
            </mc:Choice>
            <mc:Fallback>
              <p:pic>
                <p:nvPicPr>
                  <p:cNvPr id="18" name="Ink 17">
                    <a:extLst>
                      <a:ext uri="{FF2B5EF4-FFF2-40B4-BE49-F238E27FC236}">
                        <a16:creationId xmlns:a16="http://schemas.microsoft.com/office/drawing/2014/main" id="{17203497-386F-31CD-6E7E-8BEB90E8200E}"/>
                      </a:ext>
                    </a:extLst>
                  </p:cNvPr>
                  <p:cNvPicPr/>
                  <p:nvPr/>
                </p:nvPicPr>
                <p:blipFill>
                  <a:blip r:embed="rId7"/>
                  <a:stretch>
                    <a:fillRect/>
                  </a:stretch>
                </p:blipFill>
                <p:spPr>
                  <a:xfrm>
                    <a:off x="1030962" y="3728361"/>
                    <a:ext cx="995760" cy="252000"/>
                  </a:xfrm>
                  <a:prstGeom prst="rect">
                    <a:avLst/>
                  </a:prstGeom>
                </p:spPr>
              </p:pic>
            </mc:Fallback>
          </mc:AlternateContent>
        </p:grpSp>
        <p:pic>
          <p:nvPicPr>
            <p:cNvPr id="22" name="Graphic 21" descr="Chevron arrows with solid fill">
              <a:extLst>
                <a:ext uri="{FF2B5EF4-FFF2-40B4-BE49-F238E27FC236}">
                  <a16:creationId xmlns:a16="http://schemas.microsoft.com/office/drawing/2014/main" id="{CA62408B-68E5-7FFB-412A-8464DC92676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12742" y="2017693"/>
              <a:ext cx="914400" cy="914400"/>
            </a:xfrm>
            <a:prstGeom prst="rect">
              <a:avLst/>
            </a:prstGeom>
          </p:spPr>
        </p:pic>
        <p:pic>
          <p:nvPicPr>
            <p:cNvPr id="23" name="Graphic 22" descr="Chevron arrows with solid fill">
              <a:extLst>
                <a:ext uri="{FF2B5EF4-FFF2-40B4-BE49-F238E27FC236}">
                  <a16:creationId xmlns:a16="http://schemas.microsoft.com/office/drawing/2014/main" id="{C898EAB7-DD5A-CD47-58EB-48B9206114B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46811" y="1973082"/>
              <a:ext cx="914400" cy="914400"/>
            </a:xfrm>
            <a:prstGeom prst="rect">
              <a:avLst/>
            </a:prstGeom>
          </p:spPr>
        </p:pic>
      </p:grpSp>
    </p:spTree>
    <p:extLst>
      <p:ext uri="{BB962C8B-B14F-4D97-AF65-F5344CB8AC3E}">
        <p14:creationId xmlns:p14="http://schemas.microsoft.com/office/powerpoint/2010/main" val="3950311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8CB9F3-3A92-F572-8185-B6E3F24420EB}"/>
              </a:ext>
            </a:extLst>
          </p:cNvPr>
          <p:cNvPicPr>
            <a:picLocks noChangeAspect="1"/>
          </p:cNvPicPr>
          <p:nvPr/>
        </p:nvPicPr>
        <p:blipFill>
          <a:blip r:embed="rId2"/>
          <a:stretch>
            <a:fillRect/>
          </a:stretch>
        </p:blipFill>
        <p:spPr>
          <a:xfrm>
            <a:off x="791482" y="4048231"/>
            <a:ext cx="6809517" cy="20677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42341C04-E796-A196-A907-1FE47973BE5A}"/>
              </a:ext>
            </a:extLst>
          </p:cNvPr>
          <p:cNvPicPr>
            <a:picLocks noChangeAspect="1"/>
          </p:cNvPicPr>
          <p:nvPr/>
        </p:nvPicPr>
        <p:blipFill>
          <a:blip r:embed="rId3"/>
          <a:stretch>
            <a:fillRect/>
          </a:stretch>
        </p:blipFill>
        <p:spPr>
          <a:xfrm>
            <a:off x="1429059" y="497835"/>
            <a:ext cx="5534365" cy="30960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056FF42D-01EB-D937-4487-C53D499C6580}"/>
              </a:ext>
            </a:extLst>
          </p:cNvPr>
          <p:cNvPicPr>
            <a:picLocks noChangeAspect="1"/>
          </p:cNvPicPr>
          <p:nvPr/>
        </p:nvPicPr>
        <p:blipFill>
          <a:blip r:embed="rId4"/>
          <a:stretch>
            <a:fillRect/>
          </a:stretch>
        </p:blipFill>
        <p:spPr>
          <a:xfrm>
            <a:off x="8290335" y="497835"/>
            <a:ext cx="3110183" cy="56181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39592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92B3FE-193F-00D8-E9F7-9C02254B729C}"/>
              </a:ext>
            </a:extLst>
          </p:cNvPr>
          <p:cNvPicPr>
            <a:picLocks noChangeAspect="1"/>
          </p:cNvPicPr>
          <p:nvPr/>
        </p:nvPicPr>
        <p:blipFill>
          <a:blip r:embed="rId2"/>
          <a:stretch>
            <a:fillRect/>
          </a:stretch>
        </p:blipFill>
        <p:spPr>
          <a:xfrm>
            <a:off x="1948722" y="1289616"/>
            <a:ext cx="8064708" cy="4778175"/>
          </a:xfrm>
          <a:prstGeom prst="rect">
            <a:avLst/>
          </a:prstGeom>
        </p:spPr>
      </p:pic>
      <p:sp>
        <p:nvSpPr>
          <p:cNvPr id="7" name="TextBox 6">
            <a:extLst>
              <a:ext uri="{FF2B5EF4-FFF2-40B4-BE49-F238E27FC236}">
                <a16:creationId xmlns:a16="http://schemas.microsoft.com/office/drawing/2014/main" id="{C8619E4A-BDD1-CAE4-C162-27A2C1E85886}"/>
              </a:ext>
            </a:extLst>
          </p:cNvPr>
          <p:cNvSpPr txBox="1"/>
          <p:nvPr/>
        </p:nvSpPr>
        <p:spPr>
          <a:xfrm>
            <a:off x="755746" y="436266"/>
            <a:ext cx="10680507"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1. List the top 3 and bottom 3 makers for the fiscal years 2023 and 2024 in terms of the number of 2-wheelers sold</a:t>
            </a:r>
            <a:endParaRPr lang="en-IN" sz="2000" b="1" dirty="0"/>
          </a:p>
        </p:txBody>
      </p:sp>
    </p:spTree>
    <p:extLst>
      <p:ext uri="{BB962C8B-B14F-4D97-AF65-F5344CB8AC3E}">
        <p14:creationId xmlns:p14="http://schemas.microsoft.com/office/powerpoint/2010/main" val="1862900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DAB57D-8A15-6A2E-8815-A2FB7730FCBB}"/>
              </a:ext>
            </a:extLst>
          </p:cNvPr>
          <p:cNvPicPr>
            <a:picLocks noChangeAspect="1"/>
          </p:cNvPicPr>
          <p:nvPr/>
        </p:nvPicPr>
        <p:blipFill>
          <a:blip r:embed="rId2"/>
          <a:stretch>
            <a:fillRect/>
          </a:stretch>
        </p:blipFill>
        <p:spPr>
          <a:xfrm>
            <a:off x="1993093" y="1339621"/>
            <a:ext cx="8205813" cy="4844698"/>
          </a:xfrm>
          <a:prstGeom prst="rect">
            <a:avLst/>
          </a:prstGeom>
        </p:spPr>
      </p:pic>
      <p:sp>
        <p:nvSpPr>
          <p:cNvPr id="5" name="TextBox 4">
            <a:extLst>
              <a:ext uri="{FF2B5EF4-FFF2-40B4-BE49-F238E27FC236}">
                <a16:creationId xmlns:a16="http://schemas.microsoft.com/office/drawing/2014/main" id="{7CE904E0-17BE-5331-94C9-BC5BF215FF6D}"/>
              </a:ext>
            </a:extLst>
          </p:cNvPr>
          <p:cNvSpPr txBox="1"/>
          <p:nvPr/>
        </p:nvSpPr>
        <p:spPr>
          <a:xfrm>
            <a:off x="775740" y="319738"/>
            <a:ext cx="10640518"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2. Identify the top 5 states with the highest penetration rate in 2-wheeler and 4-wheeler EV sales in FY 2024.</a:t>
            </a:r>
            <a:endParaRPr lang="en-IN" sz="2000" b="1" dirty="0"/>
          </a:p>
        </p:txBody>
      </p:sp>
    </p:spTree>
    <p:extLst>
      <p:ext uri="{BB962C8B-B14F-4D97-AF65-F5344CB8AC3E}">
        <p14:creationId xmlns:p14="http://schemas.microsoft.com/office/powerpoint/2010/main" val="1630215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522FB9-7DC5-6A81-4E8A-898AB6276B3C}"/>
              </a:ext>
            </a:extLst>
          </p:cNvPr>
          <p:cNvSpPr txBox="1"/>
          <p:nvPr/>
        </p:nvSpPr>
        <p:spPr>
          <a:xfrm>
            <a:off x="1780705" y="463818"/>
            <a:ext cx="8630587"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3. List the states with negative penetration (decline) in EV sales from 2022 to 2024?</a:t>
            </a:r>
            <a:endParaRPr lang="en-IN" sz="2000" b="1" dirty="0"/>
          </a:p>
        </p:txBody>
      </p:sp>
      <p:sp>
        <p:nvSpPr>
          <p:cNvPr id="5" name="TextBox 4">
            <a:extLst>
              <a:ext uri="{FF2B5EF4-FFF2-40B4-BE49-F238E27FC236}">
                <a16:creationId xmlns:a16="http://schemas.microsoft.com/office/drawing/2014/main" id="{3418135D-EC1F-F65B-EB14-2D19134AFB74}"/>
              </a:ext>
            </a:extLst>
          </p:cNvPr>
          <p:cNvSpPr txBox="1"/>
          <p:nvPr/>
        </p:nvSpPr>
        <p:spPr>
          <a:xfrm>
            <a:off x="986227" y="1603709"/>
            <a:ext cx="10219545" cy="1200329"/>
          </a:xfrm>
          <a:prstGeom prst="rect">
            <a:avLst/>
          </a:prstGeom>
          <a:noFill/>
        </p:spPr>
        <p:txBody>
          <a:bodyPr wrap="square">
            <a:spAutoFit/>
          </a:bodyPr>
          <a:lstStyle/>
          <a:p>
            <a:pPr algn="l">
              <a:buNone/>
            </a:pPr>
            <a:r>
              <a:rPr lang="en-US" b="1" i="0" dirty="0">
                <a:effectLst/>
                <a:latin typeface="system-ui"/>
              </a:rPr>
              <a:t>Conclusion : An analysis of EV penetration trends between FY 2022 and FY 2024 shows that no Indian state with continuous data experienced a decline in EV penetration rate. While some states lacked data for FY 2022 and were excluded from comparison, all comparable states demonstrated stable or increasing EV adoption relative to total vehicle sales.</a:t>
            </a:r>
          </a:p>
        </p:txBody>
      </p:sp>
    </p:spTree>
    <p:extLst>
      <p:ext uri="{BB962C8B-B14F-4D97-AF65-F5344CB8AC3E}">
        <p14:creationId xmlns:p14="http://schemas.microsoft.com/office/powerpoint/2010/main" val="3627994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AB9E04-8FE2-A48C-1A53-8CD26FBDBAE0}"/>
              </a:ext>
            </a:extLst>
          </p:cNvPr>
          <p:cNvSpPr txBox="1"/>
          <p:nvPr/>
        </p:nvSpPr>
        <p:spPr>
          <a:xfrm>
            <a:off x="692046" y="313917"/>
            <a:ext cx="10807908"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4. What are the quarterly trends based on sales volume for the top 5 EV makers (4-wheelers) from 2022 to 2024?</a:t>
            </a:r>
            <a:endParaRPr lang="en-IN" sz="2000" b="1" dirty="0"/>
          </a:p>
        </p:txBody>
      </p:sp>
      <p:pic>
        <p:nvPicPr>
          <p:cNvPr id="5" name="Picture 4">
            <a:extLst>
              <a:ext uri="{FF2B5EF4-FFF2-40B4-BE49-F238E27FC236}">
                <a16:creationId xmlns:a16="http://schemas.microsoft.com/office/drawing/2014/main" id="{F2C547D1-9DA9-E363-892D-4877C2494511}"/>
              </a:ext>
            </a:extLst>
          </p:cNvPr>
          <p:cNvPicPr>
            <a:picLocks noChangeAspect="1"/>
          </p:cNvPicPr>
          <p:nvPr/>
        </p:nvPicPr>
        <p:blipFill>
          <a:blip r:embed="rId2"/>
          <a:stretch>
            <a:fillRect/>
          </a:stretch>
        </p:blipFill>
        <p:spPr>
          <a:xfrm>
            <a:off x="424814" y="1196970"/>
            <a:ext cx="11342371" cy="4754124"/>
          </a:xfrm>
          <a:prstGeom prst="rect">
            <a:avLst/>
          </a:prstGeom>
        </p:spPr>
      </p:pic>
    </p:spTree>
    <p:extLst>
      <p:ext uri="{BB962C8B-B14F-4D97-AF65-F5344CB8AC3E}">
        <p14:creationId xmlns:p14="http://schemas.microsoft.com/office/powerpoint/2010/main" val="2739159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366919-42A7-A5B3-7797-50A64887FB13}"/>
              </a:ext>
            </a:extLst>
          </p:cNvPr>
          <p:cNvPicPr>
            <a:picLocks noChangeAspect="1"/>
          </p:cNvPicPr>
          <p:nvPr/>
        </p:nvPicPr>
        <p:blipFill>
          <a:blip r:embed="rId2"/>
          <a:stretch>
            <a:fillRect/>
          </a:stretch>
        </p:blipFill>
        <p:spPr>
          <a:xfrm>
            <a:off x="580255" y="1003700"/>
            <a:ext cx="5042809" cy="3283487"/>
          </a:xfrm>
          <a:prstGeom prst="rect">
            <a:avLst/>
          </a:prstGeom>
        </p:spPr>
      </p:pic>
      <p:pic>
        <p:nvPicPr>
          <p:cNvPr id="5" name="Picture 4">
            <a:extLst>
              <a:ext uri="{FF2B5EF4-FFF2-40B4-BE49-F238E27FC236}">
                <a16:creationId xmlns:a16="http://schemas.microsoft.com/office/drawing/2014/main" id="{F304759B-A55A-CEC8-5613-B0204AD6EBE1}"/>
              </a:ext>
            </a:extLst>
          </p:cNvPr>
          <p:cNvPicPr>
            <a:picLocks noChangeAspect="1"/>
          </p:cNvPicPr>
          <p:nvPr/>
        </p:nvPicPr>
        <p:blipFill>
          <a:blip r:embed="rId3"/>
          <a:stretch>
            <a:fillRect/>
          </a:stretch>
        </p:blipFill>
        <p:spPr>
          <a:xfrm>
            <a:off x="6568936" y="994632"/>
            <a:ext cx="5042809" cy="3292555"/>
          </a:xfrm>
          <a:prstGeom prst="rect">
            <a:avLst/>
          </a:prstGeom>
        </p:spPr>
      </p:pic>
      <p:sp>
        <p:nvSpPr>
          <p:cNvPr id="7" name="TextBox 6">
            <a:extLst>
              <a:ext uri="{FF2B5EF4-FFF2-40B4-BE49-F238E27FC236}">
                <a16:creationId xmlns:a16="http://schemas.microsoft.com/office/drawing/2014/main" id="{FBC4FDF1-A9D7-2626-AD52-50CE217FAD22}"/>
              </a:ext>
            </a:extLst>
          </p:cNvPr>
          <p:cNvSpPr txBox="1"/>
          <p:nvPr/>
        </p:nvSpPr>
        <p:spPr>
          <a:xfrm>
            <a:off x="224853" y="4590979"/>
            <a:ext cx="11742294" cy="1477328"/>
          </a:xfrm>
          <a:prstGeom prst="rect">
            <a:avLst/>
          </a:prstGeom>
          <a:noFill/>
        </p:spPr>
        <p:txBody>
          <a:bodyPr wrap="square">
            <a:spAutoFit/>
          </a:bodyPr>
          <a:lstStyle/>
          <a:p>
            <a:r>
              <a:rPr lang="en-US" dirty="0"/>
              <a:t>“In FY 2024, Karnataka sold over 160,000 EVs compared to around 47,000 in Delhi, making it more than three times larger in market size. At the same time, Karnataka also shows a higher EV penetration rate at 10.2%, compared to 7.7% in Delhi. This tells us that Karnataka is not only a larger EV market but also a more mature one in terms of adoption. For </a:t>
            </a:r>
            <a:r>
              <a:rPr lang="en-US" dirty="0" err="1"/>
              <a:t>AtliQ</a:t>
            </a:r>
            <a:r>
              <a:rPr lang="en-US" dirty="0"/>
              <a:t> Motors, this makes Karnataka the strongest candidate for volume-driven entry, while Delhi can play a supporting role for policy-led branding and visibility.”</a:t>
            </a:r>
            <a:endParaRPr lang="en-IN" dirty="0"/>
          </a:p>
        </p:txBody>
      </p:sp>
      <p:sp>
        <p:nvSpPr>
          <p:cNvPr id="9" name="TextBox 8">
            <a:extLst>
              <a:ext uri="{FF2B5EF4-FFF2-40B4-BE49-F238E27FC236}">
                <a16:creationId xmlns:a16="http://schemas.microsoft.com/office/drawing/2014/main" id="{232BA666-FF5F-D2CC-980E-9FB5DB4A1DA2}"/>
              </a:ext>
            </a:extLst>
          </p:cNvPr>
          <p:cNvSpPr txBox="1"/>
          <p:nvPr/>
        </p:nvSpPr>
        <p:spPr>
          <a:xfrm>
            <a:off x="1813502" y="288738"/>
            <a:ext cx="9369159" cy="40011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5. How do the EV sales and penetration rates in Delhi compare to Karnataka for 2024? </a:t>
            </a:r>
            <a:endParaRPr lang="en-IN" sz="2000" b="1" dirty="0"/>
          </a:p>
        </p:txBody>
      </p:sp>
    </p:spTree>
    <p:extLst>
      <p:ext uri="{BB962C8B-B14F-4D97-AF65-F5344CB8AC3E}">
        <p14:creationId xmlns:p14="http://schemas.microsoft.com/office/powerpoint/2010/main" val="277742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3F9419-1CE4-B7AC-4D1C-7E1F85F72BAE}"/>
              </a:ext>
            </a:extLst>
          </p:cNvPr>
          <p:cNvSpPr txBox="1"/>
          <p:nvPr/>
        </p:nvSpPr>
        <p:spPr>
          <a:xfrm>
            <a:off x="978732" y="283937"/>
            <a:ext cx="10363200"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defPPr>
              <a:defRPr lang="en-US"/>
            </a:defPPr>
            <a:lvl1pPr algn="ctr">
              <a:defRPr sz="2000" b="1"/>
            </a:lvl1pPr>
          </a:lstStyle>
          <a:p>
            <a:r>
              <a:rPr lang="en-US" dirty="0"/>
              <a:t>6. List down the compounded annual growth rate (CAGR) in 4-wheeler units for the top 5 makers from 2022 to 2024.</a:t>
            </a:r>
            <a:endParaRPr lang="en-IN" dirty="0"/>
          </a:p>
        </p:txBody>
      </p:sp>
      <p:pic>
        <p:nvPicPr>
          <p:cNvPr id="5" name="Picture 4">
            <a:extLst>
              <a:ext uri="{FF2B5EF4-FFF2-40B4-BE49-F238E27FC236}">
                <a16:creationId xmlns:a16="http://schemas.microsoft.com/office/drawing/2014/main" id="{6446693D-FD7E-0219-5736-D63B6017EAD0}"/>
              </a:ext>
            </a:extLst>
          </p:cNvPr>
          <p:cNvPicPr>
            <a:picLocks noChangeAspect="1"/>
          </p:cNvPicPr>
          <p:nvPr/>
        </p:nvPicPr>
        <p:blipFill>
          <a:blip r:embed="rId2"/>
          <a:stretch>
            <a:fillRect/>
          </a:stretch>
        </p:blipFill>
        <p:spPr>
          <a:xfrm>
            <a:off x="3850561" y="1275231"/>
            <a:ext cx="4490875" cy="2625894"/>
          </a:xfrm>
          <a:prstGeom prst="rect">
            <a:avLst/>
          </a:prstGeom>
        </p:spPr>
      </p:pic>
      <p:sp>
        <p:nvSpPr>
          <p:cNvPr id="7" name="TextBox 6">
            <a:extLst>
              <a:ext uri="{FF2B5EF4-FFF2-40B4-BE49-F238E27FC236}">
                <a16:creationId xmlns:a16="http://schemas.microsoft.com/office/drawing/2014/main" id="{71CDFF29-6A0F-B875-8D16-A289BE98707C}"/>
              </a:ext>
            </a:extLst>
          </p:cNvPr>
          <p:cNvSpPr txBox="1"/>
          <p:nvPr/>
        </p:nvSpPr>
        <p:spPr>
          <a:xfrm>
            <a:off x="573374" y="3901125"/>
            <a:ext cx="11173917" cy="1754326"/>
          </a:xfrm>
          <a:prstGeom prst="rect">
            <a:avLst/>
          </a:prstGeom>
          <a:noFill/>
        </p:spPr>
        <p:txBody>
          <a:bodyPr wrap="square">
            <a:spAutoFit/>
          </a:bodyPr>
          <a:lstStyle/>
          <a:p>
            <a:pPr>
              <a:buNone/>
            </a:pPr>
            <a:r>
              <a:rPr lang="en-US" b="1" dirty="0"/>
              <a:t>What this table shows (set the frame)</a:t>
            </a:r>
          </a:p>
          <a:p>
            <a:pPr>
              <a:buNone/>
            </a:pPr>
            <a:r>
              <a:rPr lang="en-US" dirty="0"/>
              <a:t>This table ranks the </a:t>
            </a:r>
            <a:r>
              <a:rPr lang="en-US" b="1" dirty="0"/>
              <a:t>top 5 EV manufacturers in the 4-wheeler segment</a:t>
            </a:r>
            <a:r>
              <a:rPr lang="en-US" dirty="0"/>
              <a:t> by their </a:t>
            </a:r>
            <a:r>
              <a:rPr lang="en-US" b="1" dirty="0"/>
              <a:t>compound annual growth rate (CAGR)</a:t>
            </a:r>
            <a:r>
              <a:rPr lang="en-US" dirty="0"/>
              <a:t> between </a:t>
            </a:r>
            <a:r>
              <a:rPr lang="en-US" b="1" dirty="0"/>
              <a:t>FY 2022 and FY 2024</a:t>
            </a:r>
            <a:r>
              <a:rPr lang="en-US" dirty="0"/>
              <a:t>.</a:t>
            </a:r>
          </a:p>
          <a:p>
            <a:pPr>
              <a:buFont typeface="Arial" panose="020B0604020202020204" pitchFamily="34" charset="0"/>
              <a:buChar char="•"/>
            </a:pPr>
            <a:r>
              <a:rPr lang="en-US" dirty="0"/>
              <a:t>Metric: </a:t>
            </a:r>
            <a:r>
              <a:rPr lang="en-US" b="1" dirty="0"/>
              <a:t>CAGR (%)</a:t>
            </a:r>
            <a:endParaRPr lang="en-US" dirty="0"/>
          </a:p>
          <a:p>
            <a:pPr>
              <a:buFont typeface="Arial" panose="020B0604020202020204" pitchFamily="34" charset="0"/>
              <a:buChar char="•"/>
            </a:pPr>
            <a:r>
              <a:rPr lang="en-US" dirty="0"/>
              <a:t>Time period: </a:t>
            </a:r>
            <a:r>
              <a:rPr lang="en-US" b="1" dirty="0"/>
              <a:t>2 years</a:t>
            </a:r>
            <a:endParaRPr lang="en-US" dirty="0"/>
          </a:p>
          <a:p>
            <a:pPr>
              <a:buFont typeface="Arial" panose="020B0604020202020204" pitchFamily="34" charset="0"/>
              <a:buChar char="•"/>
            </a:pPr>
            <a:r>
              <a:rPr lang="en-US" dirty="0"/>
              <a:t>Interpretation: </a:t>
            </a:r>
            <a:r>
              <a:rPr lang="en-US" i="1" dirty="0"/>
              <a:t>Average annual growth rate in EV sales</a:t>
            </a:r>
            <a:endParaRPr lang="en-US" dirty="0"/>
          </a:p>
        </p:txBody>
      </p:sp>
    </p:spTree>
    <p:extLst>
      <p:ext uri="{BB962C8B-B14F-4D97-AF65-F5344CB8AC3E}">
        <p14:creationId xmlns:p14="http://schemas.microsoft.com/office/powerpoint/2010/main" val="693980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E407E4-7B05-92F2-C699-2161472522F9}"/>
              </a:ext>
            </a:extLst>
          </p:cNvPr>
          <p:cNvPicPr>
            <a:picLocks noChangeAspect="1"/>
          </p:cNvPicPr>
          <p:nvPr/>
        </p:nvPicPr>
        <p:blipFill>
          <a:blip r:embed="rId2"/>
          <a:stretch>
            <a:fillRect/>
          </a:stretch>
        </p:blipFill>
        <p:spPr>
          <a:xfrm>
            <a:off x="387435" y="2563794"/>
            <a:ext cx="4768141" cy="3866985"/>
          </a:xfrm>
          <a:prstGeom prst="rect">
            <a:avLst/>
          </a:prstGeom>
        </p:spPr>
      </p:pic>
      <p:pic>
        <p:nvPicPr>
          <p:cNvPr id="7" name="Picture 6">
            <a:extLst>
              <a:ext uri="{FF2B5EF4-FFF2-40B4-BE49-F238E27FC236}">
                <a16:creationId xmlns:a16="http://schemas.microsoft.com/office/drawing/2014/main" id="{23028E59-53B4-413A-798F-C2FFFACB4A11}"/>
              </a:ext>
            </a:extLst>
          </p:cNvPr>
          <p:cNvPicPr>
            <a:picLocks noChangeAspect="1"/>
          </p:cNvPicPr>
          <p:nvPr/>
        </p:nvPicPr>
        <p:blipFill>
          <a:blip r:embed="rId3"/>
          <a:stretch>
            <a:fillRect/>
          </a:stretch>
        </p:blipFill>
        <p:spPr>
          <a:xfrm>
            <a:off x="5270232" y="2563794"/>
            <a:ext cx="6534333" cy="3866985"/>
          </a:xfrm>
          <a:prstGeom prst="rect">
            <a:avLst/>
          </a:prstGeom>
        </p:spPr>
      </p:pic>
      <p:sp>
        <p:nvSpPr>
          <p:cNvPr id="9" name="TextBox 8">
            <a:extLst>
              <a:ext uri="{FF2B5EF4-FFF2-40B4-BE49-F238E27FC236}">
                <a16:creationId xmlns:a16="http://schemas.microsoft.com/office/drawing/2014/main" id="{9B0F6F02-DC15-9841-1DBA-66747B386AA3}"/>
              </a:ext>
            </a:extLst>
          </p:cNvPr>
          <p:cNvSpPr txBox="1"/>
          <p:nvPr/>
        </p:nvSpPr>
        <p:spPr>
          <a:xfrm>
            <a:off x="699541" y="775022"/>
            <a:ext cx="10792918"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7. List down the top 10 states that had the highest compounded annual growth rate (CAGR) from 2022 to 2024 in total vehicles sold.</a:t>
            </a:r>
            <a:endParaRPr lang="en-IN" sz="2000" b="1" dirty="0"/>
          </a:p>
        </p:txBody>
      </p:sp>
    </p:spTree>
    <p:extLst>
      <p:ext uri="{BB962C8B-B14F-4D97-AF65-F5344CB8AC3E}">
        <p14:creationId xmlns:p14="http://schemas.microsoft.com/office/powerpoint/2010/main" val="4144098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D1F572-FE49-75F7-A78D-EC6B2A5CD54F}"/>
              </a:ext>
            </a:extLst>
          </p:cNvPr>
          <p:cNvSpPr txBox="1"/>
          <p:nvPr/>
        </p:nvSpPr>
        <p:spPr>
          <a:xfrm>
            <a:off x="1523375" y="223975"/>
            <a:ext cx="9145249"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8. What are the peak and low season months for EV sales based on the data from 2022 to 2024?</a:t>
            </a:r>
            <a:endParaRPr lang="en-IN" sz="2000" b="1" dirty="0"/>
          </a:p>
        </p:txBody>
      </p:sp>
      <p:pic>
        <p:nvPicPr>
          <p:cNvPr id="5" name="Picture 4">
            <a:extLst>
              <a:ext uri="{FF2B5EF4-FFF2-40B4-BE49-F238E27FC236}">
                <a16:creationId xmlns:a16="http://schemas.microsoft.com/office/drawing/2014/main" id="{5755BD15-2129-0801-A613-9F834433D801}"/>
              </a:ext>
            </a:extLst>
          </p:cNvPr>
          <p:cNvPicPr>
            <a:picLocks noChangeAspect="1"/>
          </p:cNvPicPr>
          <p:nvPr/>
        </p:nvPicPr>
        <p:blipFill>
          <a:blip r:embed="rId2"/>
          <a:stretch>
            <a:fillRect/>
          </a:stretch>
        </p:blipFill>
        <p:spPr>
          <a:xfrm>
            <a:off x="2308170" y="1136655"/>
            <a:ext cx="7575655" cy="3706410"/>
          </a:xfrm>
          <a:prstGeom prst="rect">
            <a:avLst/>
          </a:prstGeom>
        </p:spPr>
      </p:pic>
      <p:sp>
        <p:nvSpPr>
          <p:cNvPr id="7" name="TextBox 6">
            <a:extLst>
              <a:ext uri="{FF2B5EF4-FFF2-40B4-BE49-F238E27FC236}">
                <a16:creationId xmlns:a16="http://schemas.microsoft.com/office/drawing/2014/main" id="{5A46E0FF-7FFE-04D7-9CAA-CE191A649FB7}"/>
              </a:ext>
            </a:extLst>
          </p:cNvPr>
          <p:cNvSpPr txBox="1"/>
          <p:nvPr/>
        </p:nvSpPr>
        <p:spPr>
          <a:xfrm>
            <a:off x="339776" y="5047859"/>
            <a:ext cx="11512445" cy="1200329"/>
          </a:xfrm>
          <a:prstGeom prst="rect">
            <a:avLst/>
          </a:prstGeom>
          <a:noFill/>
        </p:spPr>
        <p:txBody>
          <a:bodyPr wrap="square">
            <a:spAutoFit/>
          </a:bodyPr>
          <a:lstStyle/>
          <a:p>
            <a:r>
              <a:rPr lang="en-US" dirty="0"/>
              <a:t>Analyzing EV sales data from 2022 to 2024 reveals a clear seasonal pattern. March consistently emerges as the peak month for EV sales, driven by financial year-end purchasing, institutional procurement, and dealer-led incentives. In contrast, June records the lowest sales volumes, reflecting post–year-end demand fatigue and the onset of monsoon-related purchase deferrals.</a:t>
            </a:r>
            <a:endParaRPr lang="en-IN" dirty="0"/>
          </a:p>
        </p:txBody>
      </p:sp>
    </p:spTree>
    <p:extLst>
      <p:ext uri="{BB962C8B-B14F-4D97-AF65-F5344CB8AC3E}">
        <p14:creationId xmlns:p14="http://schemas.microsoft.com/office/powerpoint/2010/main" val="1261799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8DC903-32DE-FE61-8039-D8CC7CAEC52E}"/>
              </a:ext>
            </a:extLst>
          </p:cNvPr>
          <p:cNvPicPr>
            <a:picLocks noChangeAspect="1"/>
          </p:cNvPicPr>
          <p:nvPr/>
        </p:nvPicPr>
        <p:blipFill>
          <a:blip r:embed="rId2"/>
          <a:stretch>
            <a:fillRect/>
          </a:stretch>
        </p:blipFill>
        <p:spPr>
          <a:xfrm>
            <a:off x="2185990" y="1933356"/>
            <a:ext cx="7610156" cy="4550267"/>
          </a:xfrm>
          <a:prstGeom prst="rect">
            <a:avLst/>
          </a:prstGeom>
        </p:spPr>
      </p:pic>
      <p:sp>
        <p:nvSpPr>
          <p:cNvPr id="4" name="TextBox 3">
            <a:extLst>
              <a:ext uri="{FF2B5EF4-FFF2-40B4-BE49-F238E27FC236}">
                <a16:creationId xmlns:a16="http://schemas.microsoft.com/office/drawing/2014/main" id="{0EE2C0CD-3E34-0018-4F64-210F51D3CDC3}"/>
              </a:ext>
            </a:extLst>
          </p:cNvPr>
          <p:cNvSpPr txBox="1"/>
          <p:nvPr/>
        </p:nvSpPr>
        <p:spPr>
          <a:xfrm>
            <a:off x="1015583" y="546583"/>
            <a:ext cx="10406922" cy="1015663"/>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defPPr>
              <a:defRPr lang="en-US"/>
            </a:defPPr>
            <a:lvl1pPr algn="ctr">
              <a:defRPr sz="2000" b="1"/>
            </a:lvl1pPr>
          </a:lstStyle>
          <a:p>
            <a:r>
              <a:rPr lang="en-US" dirty="0"/>
              <a:t>9. What is the projected number of EV sales (including 2-wheelers and 4- wheelers) for the top 10 states by penetration rate in 2030, based on the compounded annual growth rate (CAGR) from previous years?</a:t>
            </a:r>
            <a:endParaRPr lang="en-IN" dirty="0"/>
          </a:p>
        </p:txBody>
      </p:sp>
    </p:spTree>
    <p:extLst>
      <p:ext uri="{BB962C8B-B14F-4D97-AF65-F5344CB8AC3E}">
        <p14:creationId xmlns:p14="http://schemas.microsoft.com/office/powerpoint/2010/main" val="952561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405BF0-EC97-6B59-72EE-3491EDA49BC8}"/>
              </a:ext>
            </a:extLst>
          </p:cNvPr>
          <p:cNvPicPr>
            <a:picLocks noChangeAspect="1"/>
          </p:cNvPicPr>
          <p:nvPr/>
        </p:nvPicPr>
        <p:blipFill>
          <a:blip r:embed="rId2"/>
          <a:stretch>
            <a:fillRect/>
          </a:stretch>
        </p:blipFill>
        <p:spPr>
          <a:xfrm>
            <a:off x="1402539" y="292100"/>
            <a:ext cx="9386922" cy="4579703"/>
          </a:xfrm>
          <a:prstGeom prst="rect">
            <a:avLst/>
          </a:prstGeom>
        </p:spPr>
      </p:pic>
      <p:sp>
        <p:nvSpPr>
          <p:cNvPr id="9" name="TextBox 8">
            <a:extLst>
              <a:ext uri="{FF2B5EF4-FFF2-40B4-BE49-F238E27FC236}">
                <a16:creationId xmlns:a16="http://schemas.microsoft.com/office/drawing/2014/main" id="{75E95836-DAB2-B600-D143-F7D9B19C36DF}"/>
              </a:ext>
            </a:extLst>
          </p:cNvPr>
          <p:cNvSpPr txBox="1"/>
          <p:nvPr/>
        </p:nvSpPr>
        <p:spPr>
          <a:xfrm>
            <a:off x="438462" y="5227741"/>
            <a:ext cx="11523689" cy="1200329"/>
          </a:xfrm>
          <a:prstGeom prst="rect">
            <a:avLst/>
          </a:prstGeom>
          <a:noFill/>
        </p:spPr>
        <p:txBody>
          <a:bodyPr wrap="square">
            <a:spAutoFit/>
          </a:bodyPr>
          <a:lstStyle/>
          <a:p>
            <a:r>
              <a:rPr lang="en-US" dirty="0"/>
              <a:t>This chart shows how EV sales have evolved from 2022 to 2024 and what that growth implies for 2030. While states like Chhattisgarh and Chandigarh exhibit very high CAGR due to small starting bases, Maharashtra, Karnataka, and Kerala stand out by combining strong growth momentum with large absolute volumes. This makes them the most strategically important EV markets over the next decade.</a:t>
            </a:r>
            <a:endParaRPr lang="en-IN" dirty="0"/>
          </a:p>
        </p:txBody>
      </p:sp>
    </p:spTree>
    <p:extLst>
      <p:ext uri="{BB962C8B-B14F-4D97-AF65-F5344CB8AC3E}">
        <p14:creationId xmlns:p14="http://schemas.microsoft.com/office/powerpoint/2010/main" val="990422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F8B0B7-9DF8-A753-89A7-F30F3D964575}"/>
              </a:ext>
            </a:extLst>
          </p:cNvPr>
          <p:cNvPicPr>
            <a:picLocks noChangeAspect="1"/>
          </p:cNvPicPr>
          <p:nvPr/>
        </p:nvPicPr>
        <p:blipFill>
          <a:blip r:embed="rId2"/>
          <a:stretch>
            <a:fillRect/>
          </a:stretch>
        </p:blipFill>
        <p:spPr>
          <a:xfrm>
            <a:off x="497881" y="4596208"/>
            <a:ext cx="11196238" cy="1387834"/>
          </a:xfrm>
          <a:prstGeom prst="rect">
            <a:avLst/>
          </a:prstGeom>
        </p:spPr>
      </p:pic>
      <p:sp>
        <p:nvSpPr>
          <p:cNvPr id="8" name="TextBox 7">
            <a:extLst>
              <a:ext uri="{FF2B5EF4-FFF2-40B4-BE49-F238E27FC236}">
                <a16:creationId xmlns:a16="http://schemas.microsoft.com/office/drawing/2014/main" id="{BD599B06-42F7-7CB3-6A4E-EFD06A49CB49}"/>
              </a:ext>
            </a:extLst>
          </p:cNvPr>
          <p:cNvSpPr txBox="1"/>
          <p:nvPr/>
        </p:nvSpPr>
        <p:spPr>
          <a:xfrm>
            <a:off x="497881" y="595142"/>
            <a:ext cx="11329358"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10. Estimate the revenue growth rate of 4-wheeler and 2-wheelers EVs in India for 2022 vs 2024 and 2023 vs 2024, assuming an average unit price. H</a:t>
            </a:r>
            <a:endParaRPr lang="en-IN" sz="2000" b="1" dirty="0"/>
          </a:p>
        </p:txBody>
      </p:sp>
      <p:graphicFrame>
        <p:nvGraphicFramePr>
          <p:cNvPr id="13" name="Table 12">
            <a:extLst>
              <a:ext uri="{FF2B5EF4-FFF2-40B4-BE49-F238E27FC236}">
                <a16:creationId xmlns:a16="http://schemas.microsoft.com/office/drawing/2014/main" id="{2CC978FF-4C04-0E7F-57B4-D73B1B8BE5F3}"/>
              </a:ext>
            </a:extLst>
          </p:cNvPr>
          <p:cNvGraphicFramePr>
            <a:graphicFrameLocks noGrp="1"/>
          </p:cNvGraphicFramePr>
          <p:nvPr>
            <p:extLst>
              <p:ext uri="{D42A27DB-BD31-4B8C-83A1-F6EECF244321}">
                <p14:modId xmlns:p14="http://schemas.microsoft.com/office/powerpoint/2010/main" val="1050125264"/>
              </p:ext>
            </p:extLst>
          </p:nvPr>
        </p:nvGraphicFramePr>
        <p:xfrm>
          <a:off x="2023672" y="1710396"/>
          <a:ext cx="7839856" cy="1097280"/>
        </p:xfrm>
        <a:graphic>
          <a:graphicData uri="http://schemas.openxmlformats.org/drawingml/2006/table">
            <a:tbl>
              <a:tblPr>
                <a:tableStyleId>{5940675A-B579-460E-94D1-54222C63F5DA}</a:tableStyleId>
              </a:tblPr>
              <a:tblGrid>
                <a:gridCol w="3919928">
                  <a:extLst>
                    <a:ext uri="{9D8B030D-6E8A-4147-A177-3AD203B41FA5}">
                      <a16:colId xmlns:a16="http://schemas.microsoft.com/office/drawing/2014/main" val="670029221"/>
                    </a:ext>
                  </a:extLst>
                </a:gridCol>
                <a:gridCol w="3919928">
                  <a:extLst>
                    <a:ext uri="{9D8B030D-6E8A-4147-A177-3AD203B41FA5}">
                      <a16:colId xmlns:a16="http://schemas.microsoft.com/office/drawing/2014/main" val="1073117744"/>
                    </a:ext>
                  </a:extLst>
                </a:gridCol>
              </a:tblGrid>
              <a:tr h="0">
                <a:tc>
                  <a:txBody>
                    <a:bodyPr/>
                    <a:lstStyle/>
                    <a:p>
                      <a:pPr algn="ctr">
                        <a:buNone/>
                      </a:pPr>
                      <a:r>
                        <a:rPr lang="en-IN"/>
                        <a:t>Vehicle Category</a:t>
                      </a:r>
                    </a:p>
                  </a:txBody>
                  <a:tcPr anchor="ctr"/>
                </a:tc>
                <a:tc>
                  <a:txBody>
                    <a:bodyPr/>
                    <a:lstStyle/>
                    <a:p>
                      <a:pPr algn="ctr">
                        <a:buNone/>
                      </a:pPr>
                      <a:r>
                        <a:rPr lang="en-IN"/>
                        <a:t>Avg Price</a:t>
                      </a:r>
                    </a:p>
                  </a:txBody>
                  <a:tcPr anchor="ctr"/>
                </a:tc>
                <a:extLst>
                  <a:ext uri="{0D108BD9-81ED-4DB2-BD59-A6C34878D82A}">
                    <a16:rowId xmlns:a16="http://schemas.microsoft.com/office/drawing/2014/main" val="4098556709"/>
                  </a:ext>
                </a:extLst>
              </a:tr>
              <a:tr h="0">
                <a:tc>
                  <a:txBody>
                    <a:bodyPr/>
                    <a:lstStyle/>
                    <a:p>
                      <a:pPr algn="ctr">
                        <a:buNone/>
                      </a:pPr>
                      <a:r>
                        <a:rPr lang="en-IN"/>
                        <a:t>2-Wheelers</a:t>
                      </a:r>
                    </a:p>
                  </a:txBody>
                  <a:tcPr anchor="ctr"/>
                </a:tc>
                <a:tc>
                  <a:txBody>
                    <a:bodyPr/>
                    <a:lstStyle/>
                    <a:p>
                      <a:pPr algn="ctr">
                        <a:buNone/>
                      </a:pPr>
                      <a:r>
                        <a:rPr lang="en-IN"/>
                        <a:t>₹85,000</a:t>
                      </a:r>
                    </a:p>
                  </a:txBody>
                  <a:tcPr anchor="ctr"/>
                </a:tc>
                <a:extLst>
                  <a:ext uri="{0D108BD9-81ED-4DB2-BD59-A6C34878D82A}">
                    <a16:rowId xmlns:a16="http://schemas.microsoft.com/office/drawing/2014/main" val="533891493"/>
                  </a:ext>
                </a:extLst>
              </a:tr>
              <a:tr h="0">
                <a:tc>
                  <a:txBody>
                    <a:bodyPr/>
                    <a:lstStyle/>
                    <a:p>
                      <a:pPr algn="ctr">
                        <a:buNone/>
                      </a:pPr>
                      <a:r>
                        <a:rPr lang="en-IN"/>
                        <a:t>4-Wheelers</a:t>
                      </a:r>
                    </a:p>
                  </a:txBody>
                  <a:tcPr anchor="ctr"/>
                </a:tc>
                <a:tc>
                  <a:txBody>
                    <a:bodyPr/>
                    <a:lstStyle/>
                    <a:p>
                      <a:pPr algn="ctr">
                        <a:buNone/>
                      </a:pPr>
                      <a:r>
                        <a:rPr lang="en-IN" dirty="0"/>
                        <a:t>₹15,00,000</a:t>
                      </a:r>
                    </a:p>
                  </a:txBody>
                  <a:tcPr anchor="ctr"/>
                </a:tc>
                <a:extLst>
                  <a:ext uri="{0D108BD9-81ED-4DB2-BD59-A6C34878D82A}">
                    <a16:rowId xmlns:a16="http://schemas.microsoft.com/office/drawing/2014/main" val="3535974768"/>
                  </a:ext>
                </a:extLst>
              </a:tr>
            </a:tbl>
          </a:graphicData>
        </a:graphic>
      </p:graphicFrame>
      <p:sp>
        <p:nvSpPr>
          <p:cNvPr id="15" name="TextBox 14">
            <a:extLst>
              <a:ext uri="{FF2B5EF4-FFF2-40B4-BE49-F238E27FC236}">
                <a16:creationId xmlns:a16="http://schemas.microsoft.com/office/drawing/2014/main" id="{3A30FB13-6D7D-12B8-20C3-0DC56A212C1E}"/>
              </a:ext>
            </a:extLst>
          </p:cNvPr>
          <p:cNvSpPr txBox="1"/>
          <p:nvPr/>
        </p:nvSpPr>
        <p:spPr>
          <a:xfrm>
            <a:off x="2023671" y="3012593"/>
            <a:ext cx="7839855" cy="1200329"/>
          </a:xfrm>
          <a:prstGeom prst="rect">
            <a:avLst/>
          </a:prstGeom>
          <a:noFill/>
        </p:spPr>
        <p:txBody>
          <a:bodyPr wrap="square">
            <a:spAutoFit/>
          </a:bodyPr>
          <a:lstStyle/>
          <a:p>
            <a:pPr>
              <a:buNone/>
            </a:pPr>
            <a:r>
              <a:rPr lang="en-US" b="1" dirty="0"/>
              <a:t>Important assumptions:</a:t>
            </a:r>
            <a:endParaRPr lang="en-US" dirty="0"/>
          </a:p>
          <a:p>
            <a:pPr>
              <a:buFont typeface="Arial" panose="020B0604020202020204" pitchFamily="34" charset="0"/>
              <a:buChar char="•"/>
            </a:pPr>
            <a:r>
              <a:rPr lang="en-US" dirty="0"/>
              <a:t>Prices are constant across years</a:t>
            </a:r>
          </a:p>
          <a:p>
            <a:pPr>
              <a:buFont typeface="Arial" panose="020B0604020202020204" pitchFamily="34" charset="0"/>
              <a:buChar char="•"/>
            </a:pPr>
            <a:r>
              <a:rPr lang="en-US" dirty="0"/>
              <a:t>Revenue growth is driven </a:t>
            </a:r>
            <a:r>
              <a:rPr lang="en-US" b="1" dirty="0"/>
              <a:t>only by volume growth</a:t>
            </a:r>
            <a:endParaRPr lang="en-US" dirty="0"/>
          </a:p>
          <a:p>
            <a:pPr>
              <a:buFont typeface="Arial" panose="020B0604020202020204" pitchFamily="34" charset="0"/>
              <a:buChar char="•"/>
            </a:pPr>
            <a:r>
              <a:rPr lang="en-US" dirty="0"/>
              <a:t>All values are </a:t>
            </a:r>
            <a:r>
              <a:rPr lang="en-US" b="1" dirty="0"/>
              <a:t>estimated</a:t>
            </a:r>
            <a:r>
              <a:rPr lang="en-US" dirty="0"/>
              <a:t>, not actual reported revenue</a:t>
            </a:r>
          </a:p>
        </p:txBody>
      </p:sp>
    </p:spTree>
    <p:extLst>
      <p:ext uri="{BB962C8B-B14F-4D97-AF65-F5344CB8AC3E}">
        <p14:creationId xmlns:p14="http://schemas.microsoft.com/office/powerpoint/2010/main" val="1064191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CF5CCC-A0E6-35B2-50B1-23A95C06BA07}"/>
              </a:ext>
            </a:extLst>
          </p:cNvPr>
          <p:cNvPicPr>
            <a:picLocks noChangeAspect="1"/>
          </p:cNvPicPr>
          <p:nvPr/>
        </p:nvPicPr>
        <p:blipFill>
          <a:blip r:embed="rId2"/>
          <a:stretch>
            <a:fillRect/>
          </a:stretch>
        </p:blipFill>
        <p:spPr>
          <a:xfrm>
            <a:off x="1092288" y="235780"/>
            <a:ext cx="9707619" cy="4767501"/>
          </a:xfrm>
          <a:prstGeom prst="rect">
            <a:avLst/>
          </a:prstGeom>
        </p:spPr>
      </p:pic>
      <p:sp>
        <p:nvSpPr>
          <p:cNvPr id="4" name="TextBox 3">
            <a:extLst>
              <a:ext uri="{FF2B5EF4-FFF2-40B4-BE49-F238E27FC236}">
                <a16:creationId xmlns:a16="http://schemas.microsoft.com/office/drawing/2014/main" id="{79BAC2EA-C3F3-1BA6-BDF3-781854EDBAAC}"/>
              </a:ext>
            </a:extLst>
          </p:cNvPr>
          <p:cNvSpPr txBox="1"/>
          <p:nvPr/>
        </p:nvSpPr>
        <p:spPr>
          <a:xfrm>
            <a:off x="352269" y="5003281"/>
            <a:ext cx="11487462" cy="1200329"/>
          </a:xfrm>
          <a:prstGeom prst="rect">
            <a:avLst/>
          </a:prstGeom>
          <a:noFill/>
        </p:spPr>
        <p:txBody>
          <a:bodyPr wrap="square">
            <a:spAutoFit/>
          </a:bodyPr>
          <a:lstStyle/>
          <a:p>
            <a:r>
              <a:rPr lang="en-US" dirty="0"/>
              <a:t>While 2-wheelers continue to drive mass EV adoption in India, the revenue story is increasingly dominated by 4-wheelers. Between 2022 and 2024, 4-wheeler EV revenue grew faster and reached a higher absolute level than 2-wheelers, driven by higher unit prices and accelerating demand. This indicates a clear shift toward monetization and premiumization in India’s EV market.</a:t>
            </a:r>
            <a:endParaRPr lang="en-IN" dirty="0"/>
          </a:p>
        </p:txBody>
      </p:sp>
    </p:spTree>
    <p:extLst>
      <p:ext uri="{BB962C8B-B14F-4D97-AF65-F5344CB8AC3E}">
        <p14:creationId xmlns:p14="http://schemas.microsoft.com/office/powerpoint/2010/main" val="2722900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97DD8A-86B2-AB1D-6712-30B46C3192D4}"/>
              </a:ext>
            </a:extLst>
          </p:cNvPr>
          <p:cNvSpPr txBox="1"/>
          <p:nvPr/>
        </p:nvSpPr>
        <p:spPr>
          <a:xfrm>
            <a:off x="4112926" y="182593"/>
            <a:ext cx="3966147" cy="40011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IN" sz="2000" b="1" dirty="0"/>
              <a:t>Secondary Research Questions</a:t>
            </a:r>
          </a:p>
        </p:txBody>
      </p:sp>
      <p:sp>
        <p:nvSpPr>
          <p:cNvPr id="7" name="TextBox 6">
            <a:extLst>
              <a:ext uri="{FF2B5EF4-FFF2-40B4-BE49-F238E27FC236}">
                <a16:creationId xmlns:a16="http://schemas.microsoft.com/office/drawing/2014/main" id="{E68DB8B6-F8DA-FEBE-4BA0-96305A82F574}"/>
              </a:ext>
            </a:extLst>
          </p:cNvPr>
          <p:cNvSpPr txBox="1"/>
          <p:nvPr/>
        </p:nvSpPr>
        <p:spPr>
          <a:xfrm>
            <a:off x="512163" y="730053"/>
            <a:ext cx="11167671"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1. What are the primary reasons for customers choosing 4-wheeler EVs in 2023 and 2024 (cost savings, environmental concerns, government incentives)?</a:t>
            </a:r>
            <a:endParaRPr lang="en-IN" sz="2000" b="1" dirty="0"/>
          </a:p>
        </p:txBody>
      </p:sp>
      <p:sp>
        <p:nvSpPr>
          <p:cNvPr id="9" name="TextBox 8">
            <a:extLst>
              <a:ext uri="{FF2B5EF4-FFF2-40B4-BE49-F238E27FC236}">
                <a16:creationId xmlns:a16="http://schemas.microsoft.com/office/drawing/2014/main" id="{968983BB-66DB-DDFF-6E9D-BA3969C7982D}"/>
              </a:ext>
            </a:extLst>
          </p:cNvPr>
          <p:cNvSpPr txBox="1"/>
          <p:nvPr/>
        </p:nvSpPr>
        <p:spPr>
          <a:xfrm>
            <a:off x="512163" y="1984603"/>
            <a:ext cx="11167671" cy="3693319"/>
          </a:xfrm>
          <a:prstGeom prst="rect">
            <a:avLst/>
          </a:prstGeom>
          <a:noFill/>
        </p:spPr>
        <p:txBody>
          <a:bodyPr wrap="square">
            <a:spAutoFit/>
          </a:bodyPr>
          <a:lstStyle/>
          <a:p>
            <a:pPr>
              <a:buNone/>
            </a:pPr>
            <a:r>
              <a:rPr lang="en-US" b="1" dirty="0"/>
              <a:t>Insight (short):</a:t>
            </a:r>
            <a:r>
              <a:rPr lang="en-US" dirty="0"/>
              <a:t> Buyers chose 4-wheeler EVs primarily for </a:t>
            </a:r>
            <a:r>
              <a:rPr lang="en-US" b="1" dirty="0"/>
              <a:t>total cost of ownership (running-cost savings)</a:t>
            </a:r>
            <a:r>
              <a:rPr lang="en-US" dirty="0"/>
              <a:t> and </a:t>
            </a:r>
            <a:r>
              <a:rPr lang="en-US" b="1" dirty="0"/>
              <a:t>features/comfort (vehicle utility and safety)</a:t>
            </a:r>
            <a:r>
              <a:rPr lang="en-US" dirty="0"/>
              <a:t>, with </a:t>
            </a:r>
            <a:r>
              <a:rPr lang="en-US" b="1" dirty="0"/>
              <a:t>environmental concern</a:t>
            </a:r>
            <a:r>
              <a:rPr lang="en-US" dirty="0"/>
              <a:t> and </a:t>
            </a:r>
            <a:r>
              <a:rPr lang="en-US" b="1" dirty="0"/>
              <a:t>government incentives</a:t>
            </a:r>
            <a:r>
              <a:rPr lang="en-US" dirty="0"/>
              <a:t> as secondary but meaningful motivators.</a:t>
            </a:r>
            <a:br>
              <a:rPr lang="en-US" dirty="0"/>
            </a:br>
            <a:endParaRPr lang="en-US" dirty="0"/>
          </a:p>
          <a:p>
            <a:pPr>
              <a:buNone/>
            </a:pPr>
            <a:r>
              <a:rPr lang="en-US" b="1" dirty="0"/>
              <a:t>What it means for </a:t>
            </a:r>
            <a:r>
              <a:rPr lang="en-US" b="1" dirty="0" err="1"/>
              <a:t>AtliQ</a:t>
            </a:r>
            <a:r>
              <a:rPr lang="en-US" b="1" dirty="0"/>
              <a:t> Motors:</a:t>
            </a:r>
            <a:r>
              <a:rPr lang="en-US" dirty="0"/>
              <a:t> Messaging that emphasizes </a:t>
            </a:r>
            <a:r>
              <a:rPr lang="en-US" b="1" dirty="0"/>
              <a:t>(a)</a:t>
            </a:r>
            <a:r>
              <a:rPr lang="en-US" dirty="0"/>
              <a:t> lower running cost over the vehicle lifecycle, </a:t>
            </a:r>
            <a:r>
              <a:rPr lang="en-US" b="1" dirty="0"/>
              <a:t>(b)</a:t>
            </a:r>
            <a:r>
              <a:rPr lang="en-US" dirty="0"/>
              <a:t> product features (range, safety, interior comfort), and </a:t>
            </a:r>
            <a:r>
              <a:rPr lang="en-US" b="1" dirty="0"/>
              <a:t>(c)</a:t>
            </a:r>
            <a:r>
              <a:rPr lang="en-US" dirty="0"/>
              <a:t> environmental benefit will map to buyer priorities. Incentive messaging should be part of the purchase funnel.</a:t>
            </a:r>
          </a:p>
          <a:p>
            <a:pPr>
              <a:buNone/>
            </a:pPr>
            <a:br>
              <a:rPr lang="en-US" dirty="0"/>
            </a:br>
            <a:r>
              <a:rPr lang="en-US" b="1" dirty="0"/>
              <a:t>Recommendation / next step:</a:t>
            </a:r>
            <a:endParaRPr lang="en-US" dirty="0"/>
          </a:p>
          <a:p>
            <a:pPr>
              <a:buFont typeface="Arial" panose="020B0604020202020204" pitchFamily="34" charset="0"/>
              <a:buChar char="•"/>
            </a:pPr>
            <a:r>
              <a:rPr lang="en-US" dirty="0"/>
              <a:t>Lead with a “Total Cost of Ownership” (TCO) calculator on the website (showing fuel + maintenance savings vs ICE).</a:t>
            </a:r>
          </a:p>
          <a:p>
            <a:pPr>
              <a:buFont typeface="Arial" panose="020B0604020202020204" pitchFamily="34" charset="0"/>
              <a:buChar char="•"/>
            </a:pPr>
            <a:r>
              <a:rPr lang="en-US" dirty="0"/>
              <a:t>Promote feature comparisons (range, warranty, safety) in dealer communications.</a:t>
            </a:r>
          </a:p>
          <a:p>
            <a:pPr>
              <a:buFont typeface="Arial" panose="020B0604020202020204" pitchFamily="34" charset="0"/>
              <a:buChar char="•"/>
            </a:pPr>
            <a:r>
              <a:rPr lang="en-US" dirty="0"/>
              <a:t>Include clear, localized subsidy information per state at point-of-sale.</a:t>
            </a:r>
            <a:br>
              <a:rPr lang="en-US" dirty="0"/>
            </a:br>
            <a:r>
              <a:rPr lang="en-US" dirty="0"/>
              <a:t>(Backing: consumer intention &amp; adoption literature.) </a:t>
            </a:r>
          </a:p>
        </p:txBody>
      </p:sp>
    </p:spTree>
    <p:extLst>
      <p:ext uri="{BB962C8B-B14F-4D97-AF65-F5344CB8AC3E}">
        <p14:creationId xmlns:p14="http://schemas.microsoft.com/office/powerpoint/2010/main" val="1505714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7D185E-B1E9-CB9E-CB47-57D845413B35}"/>
              </a:ext>
            </a:extLst>
          </p:cNvPr>
          <p:cNvSpPr txBox="1"/>
          <p:nvPr/>
        </p:nvSpPr>
        <p:spPr>
          <a:xfrm>
            <a:off x="557134" y="385279"/>
            <a:ext cx="11077731" cy="646331"/>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defPPr>
              <a:defRPr lang="en-US"/>
            </a:defPPr>
            <a:lvl1pPr algn="ctr">
              <a:defRPr sz="2000" b="1"/>
            </a:lvl1pPr>
          </a:lstStyle>
          <a:p>
            <a:r>
              <a:rPr lang="en-US" dirty="0"/>
              <a:t>2. How do government incentives and subsidies impact the adoption rates of 2-wheelers and 4-wheelers? Which states in India provided most subsidies?</a:t>
            </a:r>
            <a:endParaRPr lang="en-IN" dirty="0"/>
          </a:p>
        </p:txBody>
      </p:sp>
      <p:sp>
        <p:nvSpPr>
          <p:cNvPr id="5" name="TextBox 4">
            <a:extLst>
              <a:ext uri="{FF2B5EF4-FFF2-40B4-BE49-F238E27FC236}">
                <a16:creationId xmlns:a16="http://schemas.microsoft.com/office/drawing/2014/main" id="{198081D3-2D08-F543-8790-F0E402246F0E}"/>
              </a:ext>
            </a:extLst>
          </p:cNvPr>
          <p:cNvSpPr txBox="1"/>
          <p:nvPr/>
        </p:nvSpPr>
        <p:spPr>
          <a:xfrm>
            <a:off x="453451" y="1526285"/>
            <a:ext cx="11285095" cy="4247317"/>
          </a:xfrm>
          <a:prstGeom prst="rect">
            <a:avLst/>
          </a:prstGeom>
          <a:noFill/>
        </p:spPr>
        <p:txBody>
          <a:bodyPr wrap="square">
            <a:spAutoFit/>
          </a:bodyPr>
          <a:lstStyle/>
          <a:p>
            <a:pPr>
              <a:buNone/>
            </a:pPr>
            <a:r>
              <a:rPr lang="en-US" b="1" dirty="0"/>
              <a:t>Insight (short):</a:t>
            </a:r>
            <a:r>
              <a:rPr lang="en-US" dirty="0"/>
              <a:t> Subsidies materially accelerate adoption (they lower entry cost and improve ROI). States with clear, generous state incentives + administrative ease show higher uptake where charging and supply chains exist. </a:t>
            </a:r>
            <a:r>
              <a:rPr lang="en-US" b="1" dirty="0"/>
              <a:t>Delhi, Gujarat, Maharashtra, Uttar Pradesh</a:t>
            </a:r>
            <a:r>
              <a:rPr lang="en-US" dirty="0"/>
              <a:t> and several other states have offered notable buyer/charging subsidies. .</a:t>
            </a:r>
            <a:br>
              <a:rPr lang="en-US" dirty="0"/>
            </a:br>
            <a:endParaRPr lang="en-US" dirty="0"/>
          </a:p>
          <a:p>
            <a:pPr>
              <a:buNone/>
            </a:pPr>
            <a:r>
              <a:rPr lang="en-US" b="1" dirty="0"/>
              <a:t>What it means for </a:t>
            </a:r>
            <a:r>
              <a:rPr lang="en-US" b="1" dirty="0" err="1"/>
              <a:t>AtliQ</a:t>
            </a:r>
            <a:r>
              <a:rPr lang="en-US" b="1" dirty="0"/>
              <a:t> Motors:</a:t>
            </a:r>
            <a:r>
              <a:rPr lang="en-US" dirty="0"/>
              <a:t> Where buyer subsidies are stronger, price-sensitive segments adopt faster — especially for 2-wheelers and lower-priced 4-wheelers. For 4-wheelers, capital subsidy + registration / tax breaks in a state can shorten payback and accelerate sales.</a:t>
            </a:r>
          </a:p>
          <a:p>
            <a:pPr>
              <a:buNone/>
            </a:pPr>
            <a:br>
              <a:rPr lang="en-US" dirty="0"/>
            </a:br>
            <a:r>
              <a:rPr lang="en-US" b="1" dirty="0"/>
              <a:t>Recommendation / next step:</a:t>
            </a:r>
            <a:endParaRPr lang="en-US" dirty="0"/>
          </a:p>
          <a:p>
            <a:pPr>
              <a:buFont typeface="+mj-lt"/>
              <a:buAutoNum type="arabicPeriod"/>
            </a:pPr>
            <a:r>
              <a:rPr lang="en-US" dirty="0"/>
              <a:t>Maintain a </a:t>
            </a:r>
            <a:r>
              <a:rPr lang="en-US" b="1" dirty="0"/>
              <a:t>state-subsidy lookup</a:t>
            </a:r>
            <a:r>
              <a:rPr lang="en-US" dirty="0"/>
              <a:t> in the dealer CRM so sales teams can quote net price instantly. (Use e-AMRIT / state portals as sources.) </a:t>
            </a:r>
          </a:p>
          <a:p>
            <a:pPr>
              <a:buFont typeface="+mj-lt"/>
              <a:buAutoNum type="arabicPeriod"/>
            </a:pPr>
            <a:r>
              <a:rPr lang="en-US" dirty="0"/>
              <a:t>Prioritize roll-out in a mix of (a) states with high subsidies </a:t>
            </a:r>
            <a:r>
              <a:rPr lang="en-US" i="1" dirty="0"/>
              <a:t>and</a:t>
            </a:r>
            <a:r>
              <a:rPr lang="en-US" dirty="0"/>
              <a:t> (b) high absolute demand (e.g., Maharashtra, Karnataka, Gujarat).</a:t>
            </a:r>
          </a:p>
          <a:p>
            <a:pPr>
              <a:buFont typeface="+mj-lt"/>
              <a:buAutoNum type="arabicPeriod"/>
            </a:pPr>
            <a:r>
              <a:rPr lang="en-US" dirty="0"/>
              <a:t>Negotiate with state governments for targeted incentives tied to local manufacturing or charger rollout. (State policy examples show capital subsidy for chargers in Gujarat.)</a:t>
            </a:r>
          </a:p>
        </p:txBody>
      </p:sp>
    </p:spTree>
    <p:extLst>
      <p:ext uri="{BB962C8B-B14F-4D97-AF65-F5344CB8AC3E}">
        <p14:creationId xmlns:p14="http://schemas.microsoft.com/office/powerpoint/2010/main" val="2558853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6F73E3-AB4B-D0D1-29B9-9B6A1C50B0F0}"/>
              </a:ext>
            </a:extLst>
          </p:cNvPr>
          <p:cNvSpPr txBox="1"/>
          <p:nvPr/>
        </p:nvSpPr>
        <p:spPr>
          <a:xfrm>
            <a:off x="632085" y="355299"/>
            <a:ext cx="10927830"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3. How does the availability of charging stations infrastructure correlate with the EV sales and penetration rates in the top 5 states?</a:t>
            </a:r>
            <a:endParaRPr lang="en-IN" sz="2000" b="1" dirty="0"/>
          </a:p>
        </p:txBody>
      </p:sp>
      <p:sp>
        <p:nvSpPr>
          <p:cNvPr id="5" name="TextBox 4">
            <a:extLst>
              <a:ext uri="{FF2B5EF4-FFF2-40B4-BE49-F238E27FC236}">
                <a16:creationId xmlns:a16="http://schemas.microsoft.com/office/drawing/2014/main" id="{0AF934D6-85FB-2B31-C4E1-4A88F9E6ABB0}"/>
              </a:ext>
            </a:extLst>
          </p:cNvPr>
          <p:cNvSpPr txBox="1"/>
          <p:nvPr/>
        </p:nvSpPr>
        <p:spPr>
          <a:xfrm>
            <a:off x="482183" y="1891713"/>
            <a:ext cx="11227633" cy="4247317"/>
          </a:xfrm>
          <a:prstGeom prst="rect">
            <a:avLst/>
          </a:prstGeom>
          <a:noFill/>
        </p:spPr>
        <p:txBody>
          <a:bodyPr wrap="square">
            <a:spAutoFit/>
          </a:bodyPr>
          <a:lstStyle/>
          <a:p>
            <a:pPr>
              <a:buNone/>
            </a:pPr>
            <a:r>
              <a:rPr lang="en-US" b="1" dirty="0"/>
              <a:t>Insight (short):</a:t>
            </a:r>
            <a:r>
              <a:rPr lang="en-US" dirty="0"/>
              <a:t> Public charging station density correlates positively with EV sales/penetration at the state level — states that invested in public and fast-charging networks (and grid readiness) show higher EV adoption rates. JMK / BEE data indicate public charger counts and their state distribution, and NITI/BEE policy notes show infrastructure rollout is a central driver. .</a:t>
            </a:r>
            <a:br>
              <a:rPr lang="en-US" dirty="0"/>
            </a:br>
            <a:endParaRPr lang="en-US" dirty="0"/>
          </a:p>
          <a:p>
            <a:pPr>
              <a:buNone/>
            </a:pPr>
            <a:r>
              <a:rPr lang="en-US" b="1" dirty="0"/>
              <a:t>What it means for </a:t>
            </a:r>
            <a:r>
              <a:rPr lang="en-US" b="1" dirty="0" err="1"/>
              <a:t>AtliQ</a:t>
            </a:r>
            <a:r>
              <a:rPr lang="en-US" b="1" dirty="0"/>
              <a:t> Motors:</a:t>
            </a:r>
            <a:r>
              <a:rPr lang="en-US" dirty="0"/>
              <a:t> Entering or scaling in a state with a robust charging network reduces range anxiety and dealer returns. Conversely, where chargers are sparse, </a:t>
            </a:r>
            <a:r>
              <a:rPr lang="en-US" dirty="0" err="1"/>
              <a:t>AtliQ</a:t>
            </a:r>
            <a:r>
              <a:rPr lang="en-US" dirty="0"/>
              <a:t> should invest in private fast-charging partnerships or offer home/office charger incentives.</a:t>
            </a:r>
          </a:p>
          <a:p>
            <a:pPr>
              <a:buNone/>
            </a:pPr>
            <a:br>
              <a:rPr lang="en-US" dirty="0"/>
            </a:br>
            <a:r>
              <a:rPr lang="en-US" b="1" dirty="0"/>
              <a:t>Recommendation / next step:</a:t>
            </a:r>
            <a:endParaRPr lang="en-US" dirty="0"/>
          </a:p>
          <a:p>
            <a:pPr>
              <a:buFont typeface="+mj-lt"/>
              <a:buAutoNum type="arabicPeriod"/>
            </a:pPr>
            <a:r>
              <a:rPr lang="en-US" dirty="0"/>
              <a:t>For launch states (e.g., top penetration states in your analysis like Karnataka, Kerala, Maharashtra), form partnerships with public charging providers and oil-majors converting petrol stations to EV chargers (many states are enabling this). </a:t>
            </a:r>
          </a:p>
          <a:p>
            <a:pPr>
              <a:buFont typeface="+mj-lt"/>
              <a:buAutoNum type="arabicPeriod"/>
            </a:pPr>
            <a:r>
              <a:rPr lang="en-US" dirty="0"/>
              <a:t>Offer bundled “home charger + first year public-charging credits” for early buyers in low-infrastructure districts.</a:t>
            </a:r>
          </a:p>
          <a:p>
            <a:pPr>
              <a:buFont typeface="+mj-lt"/>
              <a:buAutoNum type="arabicPeriod"/>
            </a:pPr>
            <a:r>
              <a:rPr lang="en-US" dirty="0"/>
              <a:t>Map charger density vs penetration (your Q2/Q7 outputs) and make it an explicit launch-criteria matrix.</a:t>
            </a:r>
          </a:p>
        </p:txBody>
      </p:sp>
    </p:spTree>
    <p:extLst>
      <p:ext uri="{BB962C8B-B14F-4D97-AF65-F5344CB8AC3E}">
        <p14:creationId xmlns:p14="http://schemas.microsoft.com/office/powerpoint/2010/main" val="1002956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0EB057-9F97-ACE3-7DEF-8D89826B1CC7}"/>
              </a:ext>
            </a:extLst>
          </p:cNvPr>
          <p:cNvSpPr txBox="1"/>
          <p:nvPr/>
        </p:nvSpPr>
        <p:spPr>
          <a:xfrm>
            <a:off x="1119265" y="294940"/>
            <a:ext cx="9953470" cy="707886"/>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4. Who should be the brand ambassador if </a:t>
            </a:r>
            <a:r>
              <a:rPr lang="en-US" sz="2000" b="1" dirty="0" err="1"/>
              <a:t>AtliQ</a:t>
            </a:r>
            <a:r>
              <a:rPr lang="en-US" sz="2000" b="1" dirty="0"/>
              <a:t> Motors launches their EV/Hybrid vehicles in India and why?</a:t>
            </a:r>
            <a:endParaRPr lang="en-IN" sz="2000" b="1" dirty="0"/>
          </a:p>
        </p:txBody>
      </p:sp>
      <p:sp>
        <p:nvSpPr>
          <p:cNvPr id="5" name="TextBox 4">
            <a:extLst>
              <a:ext uri="{FF2B5EF4-FFF2-40B4-BE49-F238E27FC236}">
                <a16:creationId xmlns:a16="http://schemas.microsoft.com/office/drawing/2014/main" id="{90F47FE3-3382-D028-919C-34826F29160A}"/>
              </a:ext>
            </a:extLst>
          </p:cNvPr>
          <p:cNvSpPr txBox="1"/>
          <p:nvPr/>
        </p:nvSpPr>
        <p:spPr>
          <a:xfrm>
            <a:off x="403173" y="1158792"/>
            <a:ext cx="11385654" cy="4801314"/>
          </a:xfrm>
          <a:prstGeom prst="rect">
            <a:avLst/>
          </a:prstGeom>
          <a:noFill/>
        </p:spPr>
        <p:txBody>
          <a:bodyPr wrap="square">
            <a:spAutoFit/>
          </a:bodyPr>
          <a:lstStyle/>
          <a:p>
            <a:pPr>
              <a:buNone/>
            </a:pPr>
            <a:r>
              <a:rPr lang="en-US" b="1" dirty="0"/>
              <a:t>Insight (short):</a:t>
            </a:r>
            <a:r>
              <a:rPr lang="en-US" dirty="0"/>
              <a:t> Choose an ambassador who signals </a:t>
            </a:r>
            <a:r>
              <a:rPr lang="en-US" b="1" dirty="0"/>
              <a:t>trustworthiness, sustainability credibility, and wide urban &amp; youth appeal</a:t>
            </a:r>
            <a:r>
              <a:rPr lang="en-US" dirty="0"/>
              <a:t>. For an EV brand, a sustainability advocate or a high-trust sports personality is often more effective than a generic film star tied to another auto brand. Two candidate approaches: (A) a sustainability-focused celebrity (e.g., </a:t>
            </a:r>
            <a:r>
              <a:rPr lang="en-US" b="1" dirty="0"/>
              <a:t>Jackie Shroff </a:t>
            </a:r>
            <a:r>
              <a:rPr lang="en-US" dirty="0"/>
              <a:t>) for credibility, or (B) a popular sports star with pan-India reach (e.g., </a:t>
            </a:r>
            <a:r>
              <a:rPr lang="en-US" b="1" dirty="0"/>
              <a:t>M.S Dhoni </a:t>
            </a:r>
            <a:r>
              <a:rPr lang="en-US" dirty="0"/>
              <a:t>or another high-trust athlete) for mass appeal. .</a:t>
            </a:r>
            <a:br>
              <a:rPr lang="en-US" dirty="0"/>
            </a:br>
            <a:endParaRPr lang="en-US" dirty="0"/>
          </a:p>
          <a:p>
            <a:pPr>
              <a:buNone/>
            </a:pPr>
            <a:r>
              <a:rPr lang="en-US" b="1" dirty="0"/>
              <a:t>What it means for </a:t>
            </a:r>
            <a:r>
              <a:rPr lang="en-US" b="1" dirty="0" err="1"/>
              <a:t>AtliQ</a:t>
            </a:r>
            <a:r>
              <a:rPr lang="en-US" b="1" dirty="0"/>
              <a:t> Motors:</a:t>
            </a:r>
            <a:endParaRPr lang="en-US" dirty="0"/>
          </a:p>
          <a:p>
            <a:pPr>
              <a:buFont typeface="Arial" panose="020B0604020202020204" pitchFamily="34" charset="0"/>
              <a:buChar char="•"/>
            </a:pPr>
            <a:r>
              <a:rPr lang="en-US" dirty="0"/>
              <a:t>If </a:t>
            </a:r>
            <a:r>
              <a:rPr lang="en-US" dirty="0" err="1"/>
              <a:t>AtliQ</a:t>
            </a:r>
            <a:r>
              <a:rPr lang="en-US" dirty="0"/>
              <a:t> wants </a:t>
            </a:r>
            <a:r>
              <a:rPr lang="en-US" b="1" dirty="0"/>
              <a:t>trust &amp; sustainability</a:t>
            </a:r>
            <a:r>
              <a:rPr lang="en-US" dirty="0"/>
              <a:t> positioning (premium EV/HYBRID eco story): pick a credible environmental advocate (e.g., Jackie Shroff).</a:t>
            </a:r>
          </a:p>
          <a:p>
            <a:pPr>
              <a:buFont typeface="Arial" panose="020B0604020202020204" pitchFamily="34" charset="0"/>
              <a:buChar char="•"/>
            </a:pPr>
            <a:r>
              <a:rPr lang="en-US" dirty="0"/>
              <a:t>If </a:t>
            </a:r>
            <a:r>
              <a:rPr lang="en-US" dirty="0" err="1"/>
              <a:t>AtliQ</a:t>
            </a:r>
            <a:r>
              <a:rPr lang="en-US" dirty="0"/>
              <a:t> wants </a:t>
            </a:r>
            <a:r>
              <a:rPr lang="en-US" b="1" dirty="0"/>
              <a:t>mass adoption &amp; performance</a:t>
            </a:r>
            <a:r>
              <a:rPr lang="en-US" dirty="0"/>
              <a:t> positioning (sporty, aspirational models): pick a high-trust athlete or youth icon (e.g., M.S Dhoni ).</a:t>
            </a:r>
          </a:p>
          <a:p>
            <a:pPr>
              <a:buFont typeface="Arial" panose="020B0604020202020204" pitchFamily="34" charset="0"/>
              <a:buChar char="•"/>
            </a:pPr>
            <a:br>
              <a:rPr lang="en-US" dirty="0"/>
            </a:br>
            <a:r>
              <a:rPr lang="en-US" b="1" dirty="0"/>
              <a:t>Recommendation / next step:</a:t>
            </a:r>
            <a:endParaRPr lang="en-US" dirty="0"/>
          </a:p>
          <a:p>
            <a:pPr>
              <a:buFont typeface="+mj-lt"/>
              <a:buAutoNum type="arabicPeriod"/>
            </a:pPr>
            <a:r>
              <a:rPr lang="en-US" dirty="0"/>
              <a:t>Run a small </a:t>
            </a:r>
            <a:r>
              <a:rPr lang="en-US" b="1" dirty="0"/>
              <a:t>brand-fit survey</a:t>
            </a:r>
            <a:r>
              <a:rPr lang="en-US" dirty="0"/>
              <a:t> with ~1,000 respondents in target metros to test three choices (environment champion vs athlete vs mainstream film star) and measure “trust” + “relevance” + “appeal.” (This is cheap and prevents mis-spend.)</a:t>
            </a:r>
          </a:p>
          <a:p>
            <a:pPr>
              <a:buFont typeface="+mj-lt"/>
              <a:buAutoNum type="arabicPeriod"/>
            </a:pPr>
            <a:r>
              <a:rPr lang="en-US" dirty="0"/>
              <a:t>If budget allows, structure the ambassador deal to include sustainability campaign elements (tree planting, community charging hubs) to make the partnership authentic. (Research shows authentic fit matters.)</a:t>
            </a:r>
          </a:p>
        </p:txBody>
      </p:sp>
    </p:spTree>
    <p:extLst>
      <p:ext uri="{BB962C8B-B14F-4D97-AF65-F5344CB8AC3E}">
        <p14:creationId xmlns:p14="http://schemas.microsoft.com/office/powerpoint/2010/main" val="2975141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D52674-9518-3A01-B29B-C506801F5BC7}"/>
              </a:ext>
            </a:extLst>
          </p:cNvPr>
          <p:cNvSpPr txBox="1"/>
          <p:nvPr/>
        </p:nvSpPr>
        <p:spPr>
          <a:xfrm>
            <a:off x="527154" y="190407"/>
            <a:ext cx="11137692" cy="646331"/>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defPPr>
              <a:defRPr lang="en-US"/>
            </a:defPPr>
            <a:lvl1pPr algn="ctr">
              <a:defRPr sz="2000" b="1"/>
            </a:lvl1pPr>
          </a:lstStyle>
          <a:p>
            <a:r>
              <a:rPr lang="en-US" dirty="0"/>
              <a:t>5. Which state of India is ideal to start the manufacturing unit? (Based on subsidies provided, ease of doing business, stability in governance etc.)</a:t>
            </a:r>
            <a:endParaRPr lang="en-IN" dirty="0"/>
          </a:p>
        </p:txBody>
      </p:sp>
      <p:sp>
        <p:nvSpPr>
          <p:cNvPr id="5" name="TextBox 4">
            <a:extLst>
              <a:ext uri="{FF2B5EF4-FFF2-40B4-BE49-F238E27FC236}">
                <a16:creationId xmlns:a16="http://schemas.microsoft.com/office/drawing/2014/main" id="{1B8D5236-15C6-1009-3D35-654C44B50321}"/>
              </a:ext>
            </a:extLst>
          </p:cNvPr>
          <p:cNvSpPr txBox="1"/>
          <p:nvPr/>
        </p:nvSpPr>
        <p:spPr>
          <a:xfrm>
            <a:off x="408482" y="1379098"/>
            <a:ext cx="11375035" cy="3970318"/>
          </a:xfrm>
          <a:prstGeom prst="rect">
            <a:avLst/>
          </a:prstGeom>
          <a:noFill/>
        </p:spPr>
        <p:txBody>
          <a:bodyPr wrap="square">
            <a:spAutoFit/>
          </a:bodyPr>
          <a:lstStyle/>
          <a:p>
            <a:pPr>
              <a:buNone/>
            </a:pPr>
            <a:r>
              <a:rPr lang="en-IN" b="1" dirty="0"/>
              <a:t>Insight (short):</a:t>
            </a:r>
            <a:r>
              <a:rPr lang="en-IN" dirty="0"/>
              <a:t> For a mix of </a:t>
            </a:r>
            <a:r>
              <a:rPr lang="en-IN" b="1" dirty="0"/>
              <a:t>incentives, industry ecosystem, supplier base, and logistics</a:t>
            </a:r>
            <a:r>
              <a:rPr lang="en-IN" dirty="0"/>
              <a:t>, </a:t>
            </a:r>
            <a:r>
              <a:rPr lang="en-IN" b="1" dirty="0"/>
              <a:t>Maharashtra</a:t>
            </a:r>
            <a:r>
              <a:rPr lang="en-IN" dirty="0"/>
              <a:t>, </a:t>
            </a:r>
            <a:r>
              <a:rPr lang="en-IN" b="1" dirty="0"/>
              <a:t>Gujarat</a:t>
            </a:r>
            <a:r>
              <a:rPr lang="en-IN" dirty="0"/>
              <a:t>, </a:t>
            </a:r>
            <a:r>
              <a:rPr lang="en-IN" b="1" dirty="0"/>
              <a:t>Tamil Nadu</a:t>
            </a:r>
            <a:r>
              <a:rPr lang="en-IN" dirty="0"/>
              <a:t>, and </a:t>
            </a:r>
            <a:r>
              <a:rPr lang="en-IN" b="1" dirty="0"/>
              <a:t>Karnataka</a:t>
            </a:r>
            <a:r>
              <a:rPr lang="en-IN" dirty="0"/>
              <a:t> are the strongest candidates. Maharashtra and Gujarat are currently very active in EV manufacturing incentives; Tamil Nadu &amp; Karnataka have deep automotive supplier ecosystems and skilled labour pools. .</a:t>
            </a:r>
            <a:br>
              <a:rPr lang="en-IN" dirty="0"/>
            </a:br>
            <a:endParaRPr lang="en-IN" dirty="0"/>
          </a:p>
          <a:p>
            <a:pPr>
              <a:buNone/>
            </a:pPr>
            <a:r>
              <a:rPr lang="en-IN" b="1" dirty="0"/>
              <a:t>What it means for </a:t>
            </a:r>
            <a:r>
              <a:rPr lang="en-IN" b="1" dirty="0" err="1"/>
              <a:t>AtliQ</a:t>
            </a:r>
            <a:r>
              <a:rPr lang="en-IN" b="1" dirty="0"/>
              <a:t> Motors:</a:t>
            </a:r>
            <a:r>
              <a:rPr lang="en-IN" dirty="0"/>
              <a:t> Choosing a state involves a trade-off: </a:t>
            </a:r>
            <a:r>
              <a:rPr lang="en-IN" b="1" dirty="0"/>
              <a:t>incentive generosity</a:t>
            </a:r>
            <a:r>
              <a:rPr lang="en-IN" dirty="0"/>
              <a:t> (Gujarat, Maharashtra) vs </a:t>
            </a:r>
            <a:r>
              <a:rPr lang="en-IN" b="1" dirty="0"/>
              <a:t>supplier ecosystem &amp; labour</a:t>
            </a:r>
            <a:r>
              <a:rPr lang="en-IN" dirty="0"/>
              <a:t> (Tamil Nadu, Karnataka). For quick scale and supplier proximity, Tamil Nadu / Karnataka are excellent; for greenfield incentives and charger subsidy support, Gujarat / Maharashtra may be better.</a:t>
            </a:r>
          </a:p>
          <a:p>
            <a:pPr>
              <a:buNone/>
            </a:pPr>
            <a:br>
              <a:rPr lang="en-IN" dirty="0"/>
            </a:br>
            <a:r>
              <a:rPr lang="en-IN" b="1" dirty="0"/>
              <a:t>Recommendation / next step:</a:t>
            </a:r>
            <a:endParaRPr lang="en-IN" dirty="0"/>
          </a:p>
          <a:p>
            <a:pPr>
              <a:buFont typeface="+mj-lt"/>
              <a:buAutoNum type="arabicPeriod"/>
            </a:pPr>
            <a:r>
              <a:rPr lang="en-IN" dirty="0"/>
              <a:t>Shortlist </a:t>
            </a:r>
            <a:r>
              <a:rPr lang="en-IN" b="1" dirty="0"/>
              <a:t>top 3 states</a:t>
            </a:r>
            <a:r>
              <a:rPr lang="en-IN" dirty="0"/>
              <a:t> (e.g., Maharashtra, Gujarat, Tamil Nadu) and run a </a:t>
            </a:r>
            <a:r>
              <a:rPr lang="en-IN" b="1" dirty="0"/>
              <a:t>30-day site selection study</a:t>
            </a:r>
            <a:r>
              <a:rPr lang="en-IN" dirty="0"/>
              <a:t> that models: land cost, power availability (grid stability), supplier proximity, incentives value (one-time vs recurring), and time-to-approval. (Government portals &amp; BRAP/</a:t>
            </a:r>
            <a:r>
              <a:rPr lang="en-IN" dirty="0" err="1"/>
              <a:t>EoDB</a:t>
            </a:r>
            <a:r>
              <a:rPr lang="en-IN" dirty="0"/>
              <a:t> rankings are input sources.) </a:t>
            </a:r>
          </a:p>
          <a:p>
            <a:pPr>
              <a:buFont typeface="+mj-lt"/>
              <a:buAutoNum type="arabicPeriod"/>
            </a:pPr>
            <a:r>
              <a:rPr lang="en-IN" dirty="0"/>
              <a:t>Negotiate a </a:t>
            </a:r>
            <a:r>
              <a:rPr lang="en-IN" b="1" dirty="0"/>
              <a:t>performance-linked incentive (PLI)</a:t>
            </a:r>
            <a:r>
              <a:rPr lang="en-IN" dirty="0"/>
              <a:t> package tied to local employment and local supplier sourcing to reduce capex. Many state EV policies are open to such deals.</a:t>
            </a:r>
          </a:p>
        </p:txBody>
      </p:sp>
    </p:spTree>
    <p:extLst>
      <p:ext uri="{BB962C8B-B14F-4D97-AF65-F5344CB8AC3E}">
        <p14:creationId xmlns:p14="http://schemas.microsoft.com/office/powerpoint/2010/main" val="4274953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976D81-B191-D130-8739-73F7FB1F4DBD}"/>
              </a:ext>
            </a:extLst>
          </p:cNvPr>
          <p:cNvSpPr txBox="1"/>
          <p:nvPr/>
        </p:nvSpPr>
        <p:spPr>
          <a:xfrm>
            <a:off x="3049250" y="257544"/>
            <a:ext cx="6093500" cy="40011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ctr"/>
            <a:r>
              <a:rPr lang="en-US" sz="2000" b="1" dirty="0"/>
              <a:t>6. Your top 3 recommendations for </a:t>
            </a:r>
            <a:r>
              <a:rPr lang="en-US" sz="2000" b="1" dirty="0" err="1"/>
              <a:t>AtliQ</a:t>
            </a:r>
            <a:r>
              <a:rPr lang="en-US" sz="2000" b="1" dirty="0"/>
              <a:t> Motors.</a:t>
            </a:r>
            <a:endParaRPr lang="en-IN" sz="2000" b="1" dirty="0"/>
          </a:p>
        </p:txBody>
      </p:sp>
      <p:sp>
        <p:nvSpPr>
          <p:cNvPr id="4" name="Rectangle 1">
            <a:extLst>
              <a:ext uri="{FF2B5EF4-FFF2-40B4-BE49-F238E27FC236}">
                <a16:creationId xmlns:a16="http://schemas.microsoft.com/office/drawing/2014/main" id="{AB56000B-4F60-5B2C-BD2A-58BBFC69A9F6}"/>
              </a:ext>
            </a:extLst>
          </p:cNvPr>
          <p:cNvSpPr>
            <a:spLocks noChangeArrowheads="1"/>
          </p:cNvSpPr>
          <p:nvPr/>
        </p:nvSpPr>
        <p:spPr bwMode="auto">
          <a:xfrm>
            <a:off x="733586" y="751346"/>
            <a:ext cx="1072482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Launch where demand + infrastructure meet — then scale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Priority:</a:t>
            </a:r>
            <a:r>
              <a:rPr kumimoji="0" lang="en-US" altLang="en-US" sz="1800" b="0" i="0" u="none" strike="noStrike" cap="none" normalizeH="0" baseline="0" dirty="0">
                <a:ln>
                  <a:noFill/>
                </a:ln>
                <a:solidFill>
                  <a:schemeClr val="tx1"/>
                </a:solidFill>
                <a:effectLst/>
              </a:rPr>
              <a:t> start sales rollout in states that combine high EV penetration and charger density (e.g., Karnataka, Maharashtra, Kerala) and immediately form public/private charging partnerships. (Charging data &amp; NITI guidance support this.)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Product + Price + Policy playbook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Develop </a:t>
            </a:r>
            <a:r>
              <a:rPr kumimoji="0" lang="en-US" altLang="en-US" sz="1800" b="1" i="0" u="none" strike="noStrike" cap="none" normalizeH="0" baseline="0" dirty="0">
                <a:ln>
                  <a:noFill/>
                </a:ln>
                <a:solidFill>
                  <a:schemeClr val="tx1"/>
                </a:solidFill>
                <a:effectLst/>
              </a:rPr>
              <a:t>two launch SKUs - </a:t>
            </a:r>
            <a:r>
              <a:rPr lang="en-US" dirty="0"/>
              <a:t>Stock Keeping Unit (one distinct vehicle model/variant) </a:t>
            </a:r>
            <a:r>
              <a:rPr kumimoji="0" lang="en-US" altLang="en-US" sz="1800" b="0" i="0" u="none" strike="noStrike" cap="none" normalizeH="0" baseline="0" dirty="0">
                <a:ln>
                  <a:noFill/>
                </a:ln>
                <a:solidFill>
                  <a:schemeClr val="tx1"/>
                </a:solidFill>
                <a:effectLst/>
              </a:rPr>
              <a:t>: (A) value-priced 2-wheeler (high volume) and (B) 1or 2 4-wheeler variants (higher margin). Combine with a state wise </a:t>
            </a:r>
            <a:r>
              <a:rPr kumimoji="0" lang="en-US" altLang="en-US" sz="1800" b="1" i="0" u="none" strike="noStrike" cap="none" normalizeH="0" baseline="0" dirty="0">
                <a:ln>
                  <a:noFill/>
                </a:ln>
                <a:solidFill>
                  <a:schemeClr val="tx1"/>
                </a:solidFill>
                <a:effectLst/>
              </a:rPr>
              <a:t>subsidy navigator</a:t>
            </a:r>
            <a:r>
              <a:rPr kumimoji="0" lang="en-US" altLang="en-US" sz="1800" b="0" i="0" u="none" strike="noStrike" cap="none" normalizeH="0" baseline="0" dirty="0">
                <a:ln>
                  <a:noFill/>
                </a:ln>
                <a:solidFill>
                  <a:schemeClr val="tx1"/>
                </a:solidFill>
                <a:effectLst/>
              </a:rPr>
              <a:t> at dealer level to show net price after incentives. (Studies show cost &amp; incentives strongly influence adoption.)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Infrastructure &amp; credibility investments before scale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Commit to (a) a branded </a:t>
            </a:r>
            <a:r>
              <a:rPr kumimoji="0" lang="en-US" altLang="en-US" sz="1800" b="1" i="0" u="none" strike="noStrike" cap="none" normalizeH="0" baseline="0" dirty="0">
                <a:ln>
                  <a:noFill/>
                </a:ln>
                <a:solidFill>
                  <a:schemeClr val="tx1"/>
                </a:solidFill>
                <a:effectLst/>
              </a:rPr>
              <a:t>charging partnership</a:t>
            </a:r>
            <a:r>
              <a:rPr kumimoji="0" lang="en-US" altLang="en-US" sz="1800" b="0" i="0" u="none" strike="noStrike" cap="none" normalizeH="0" baseline="0" dirty="0">
                <a:ln>
                  <a:noFill/>
                </a:ln>
                <a:solidFill>
                  <a:schemeClr val="tx1"/>
                </a:solidFill>
                <a:effectLst/>
              </a:rPr>
              <a:t> (public + home installers), (b) a </a:t>
            </a:r>
            <a:r>
              <a:rPr kumimoji="0" lang="en-US" altLang="en-US" sz="1800" b="1" i="0" u="none" strike="noStrike" cap="none" normalizeH="0" baseline="0" dirty="0">
                <a:ln>
                  <a:noFill/>
                </a:ln>
                <a:solidFill>
                  <a:schemeClr val="tx1"/>
                </a:solidFill>
                <a:effectLst/>
              </a:rPr>
              <a:t>credible sustainability ambassador/partnership</a:t>
            </a:r>
            <a:r>
              <a:rPr kumimoji="0" lang="en-US" altLang="en-US" sz="1800" b="0" i="0" u="none" strike="noStrike" cap="none" normalizeH="0" baseline="0" dirty="0">
                <a:ln>
                  <a:noFill/>
                </a:ln>
                <a:solidFill>
                  <a:schemeClr val="tx1"/>
                </a:solidFill>
                <a:effectLst/>
              </a:rPr>
              <a:t> (e.g., an environment champion for brand authenticity), and (c) a </a:t>
            </a:r>
            <a:r>
              <a:rPr kumimoji="0" lang="en-US" altLang="en-US" sz="1800" b="1" i="0" u="none" strike="noStrike" cap="none" normalizeH="0" baseline="0" dirty="0">
                <a:ln>
                  <a:noFill/>
                </a:ln>
                <a:solidFill>
                  <a:schemeClr val="tx1"/>
                </a:solidFill>
                <a:effectLst/>
              </a:rPr>
              <a:t>pilot local manufacturing / CKD </a:t>
            </a:r>
            <a:r>
              <a:rPr lang="en-IN" dirty="0"/>
              <a:t>(Completely Knocked Down)</a:t>
            </a:r>
            <a:r>
              <a:rPr kumimoji="0" lang="en-US" altLang="en-US" sz="1800" b="1" i="0" u="none" strike="noStrike" cap="none" normalizeH="0" baseline="0" dirty="0">
                <a:ln>
                  <a:noFill/>
                </a:ln>
                <a:solidFill>
                  <a:schemeClr val="tx1"/>
                </a:solidFill>
                <a:effectLst/>
              </a:rPr>
              <a:t> → local assembly step</a:t>
            </a:r>
            <a:r>
              <a:rPr kumimoji="0" lang="en-US" altLang="en-US" sz="1800" b="0" i="0" u="none" strike="noStrike" cap="none" normalizeH="0" baseline="0" dirty="0">
                <a:ln>
                  <a:noFill/>
                </a:ln>
                <a:solidFill>
                  <a:schemeClr val="tx1"/>
                </a:solidFill>
                <a:effectLst/>
              </a:rPr>
              <a:t> negotiated with a chosen state for incentives. This reduces buyer risk, improves trust and obtains government buy-in.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450667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1945</TotalTime>
  <Words>2174</Words>
  <Application>Microsoft Office PowerPoint</Application>
  <PresentationFormat>Widescreen</PresentationFormat>
  <Paragraphs>90</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Segoe UI</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Akshaykumar Shalavadi</dc:creator>
  <cp:lastModifiedBy>Akshaykumar Shalavadi</cp:lastModifiedBy>
  <cp:revision>23</cp:revision>
  <dcterms:created xsi:type="dcterms:W3CDTF">2026-01-30T13:54:21Z</dcterms:created>
  <dcterms:modified xsi:type="dcterms:W3CDTF">2026-02-03T11:55:34Z</dcterms:modified>
</cp:coreProperties>
</file>